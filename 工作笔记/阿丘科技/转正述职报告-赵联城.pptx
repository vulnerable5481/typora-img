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4" r:id="rId3"/>
  </p:sldMasterIdLst>
  <p:notesMasterIdLst>
    <p:notesMasterId r:id="rId8"/>
  </p:notesMasterIdLst>
  <p:sldIdLst>
    <p:sldId id="275" r:id="rId4"/>
    <p:sldId id="314" r:id="rId5"/>
    <p:sldId id="315" r:id="rId6"/>
    <p:sldId id="319" r:id="rId7"/>
    <p:sldId id="324" r:id="rId9"/>
    <p:sldId id="321" r:id="rId10"/>
    <p:sldId id="323" r:id="rId11"/>
    <p:sldId id="325" r:id="rId12"/>
    <p:sldId id="326" r:id="rId13"/>
    <p:sldId id="327" r:id="rId14"/>
    <p:sldId id="329" r:id="rId15"/>
    <p:sldId id="328" r:id="rId16"/>
    <p:sldId id="330" r:id="rId17"/>
    <p:sldId id="331" r:id="rId18"/>
    <p:sldId id="26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FF"/>
    <a:srgbClr val="2CE2A6"/>
    <a:srgbClr val="F5F5F5"/>
    <a:srgbClr val="F0F0F0"/>
    <a:srgbClr val="156082"/>
    <a:srgbClr val="33D6FF"/>
    <a:srgbClr val="E8E6E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6"/>
    <p:restoredTop sz="94694"/>
  </p:normalViewPr>
  <p:slideViewPr>
    <p:cSldViewPr snapToGrid="0">
      <p:cViewPr varScale="1">
        <p:scale>
          <a:sx n="117" d="100"/>
          <a:sy n="117" d="100"/>
        </p:scale>
        <p:origin x="4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hyperlink" Target="http://cn.aqros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hyperlink" Target="http://cn.aqrose.com/" TargetMode="Externa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hyperlink" Target="http://cn.aqrose.com/" TargetMode="Externa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hyperlink" Target="http://cn.aqros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hyperlink" Target="http://cn.aqrose.com/" TargetMode="Externa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hyperlink" Target="http://cn.aqrose.com/" TargetMode="Externa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 userDrawn="1"/>
        </p:nvSpPr>
        <p:spPr>
          <a:xfrm>
            <a:off x="778757" y="2221132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778757" y="4131427"/>
            <a:ext cx="9144000" cy="461594"/>
          </a:xfrm>
          <a:prstGeom prst="rect">
            <a:avLst/>
          </a:prstGeom>
          <a:noFill/>
        </p:spPr>
        <p:txBody>
          <a:bodyPr wrap="none" lIns="0" tIns="108000" rtlCol="0">
            <a:noAutofit/>
          </a:bodyPr>
          <a:lstStyle>
            <a:lvl1pPr>
              <a:defRPr kumimoji="1" lang="zh-CN" altLang="en-US" sz="2400" b="0" i="0" u="none" strike="noStrike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8757" y="3002716"/>
            <a:ext cx="9144000" cy="884652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lvl1pPr>
              <a:defRPr kumimoji="1" lang="zh-CN" altLang="en-US" sz="5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kumimoji="1" lang="zh-CN" altLang="en-US" dirty="0"/>
              <a:t>单击此处编辑模板标题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0730322" y="0"/>
            <a:ext cx="561474" cy="2085474"/>
          </a:xfrm>
          <a:prstGeom prst="rect">
            <a:avLst/>
          </a:prstGeom>
          <a:gradFill>
            <a:gsLst>
              <a:gs pos="0">
                <a:srgbClr val="2CE2A6"/>
              </a:gs>
              <a:gs pos="100000">
                <a:srgbClr val="2CE2A6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 userDrawn="1"/>
        </p:nvSpPr>
        <p:spPr>
          <a:xfrm>
            <a:off x="779632" y="2938338"/>
            <a:ext cx="3535193" cy="604962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内容概览 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目录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5400000">
            <a:off x="1324219" y="837533"/>
            <a:ext cx="45719" cy="84914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 userDrawn="1"/>
        </p:nvSpPr>
        <p:spPr>
          <a:xfrm>
            <a:off x="922507" y="689124"/>
            <a:ext cx="2019985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sz="2800" dirty="0"/>
              <a:t>Contents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9326881" y="6126480"/>
            <a:ext cx="2865120" cy="731520"/>
            <a:chOff x="3095597" y="3297494"/>
            <a:chExt cx="1053585" cy="372632"/>
          </a:xfrm>
        </p:grpSpPr>
        <p:sp>
          <p:nvSpPr>
            <p:cNvPr id="8" name="矩形 7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 rot="10800000">
            <a:off x="0" y="0"/>
            <a:ext cx="2865120" cy="731520"/>
            <a:chOff x="3095597" y="3297494"/>
            <a:chExt cx="1053585" cy="372632"/>
          </a:xfrm>
        </p:grpSpPr>
        <p:sp>
          <p:nvSpPr>
            <p:cNvPr id="11" name="矩形 10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ct val="120000"/>
              </a:lnSpc>
              <a:defRPr lang="zh-CN" altLang="en-US" sz="3600" kern="1200" spc="132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061997"/>
            <a:ext cx="9144000" cy="96996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7200" b="0" i="0" u="none" strike="noStrike" kern="1200" cap="none" spc="438" baseline="0" dirty="0">
                <a:solidFill>
                  <a:schemeClr val="bg1">
                    <a:lumMod val="95000"/>
                  </a:schemeClr>
                </a:solidFill>
                <a:uFillTx/>
                <a:latin typeface="Montserrat Medium" panose="00000600000000000000" pitchFamily="2" charset="0"/>
                <a:ea typeface="HarmonyOS Sans SC" panose="00000400000000000000" pitchFamily="2" charset="-122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026</a:t>
            </a:r>
            <a:r>
              <a:rPr lang="zh-CN" altLang="en-US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6137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hlinkClick r:id="rId3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片 10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2" name="图片 11" descr="QR 代码&#10;&#10;描述已自动生成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744820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16732" y="2601412"/>
            <a:ext cx="800058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61668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20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20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6963" y="0"/>
            <a:ext cx="10165037" cy="5698434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0"/>
            <a:ext cx="9320463" cy="5698435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1921" y="1771304"/>
            <a:ext cx="2796962" cy="609398"/>
          </a:xfrm>
          <a:prstGeom prst="rect">
            <a:avLst/>
          </a:prstGeom>
        </p:spPr>
        <p:txBody>
          <a:bodyPr lIns="0" rIns="0"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kumimoji="1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zh-CN" altLang="en-US" dirty="0">
                <a:solidFill>
                  <a:schemeClr val="bg1"/>
                </a:solidFill>
              </a:rPr>
              <a:t>阿丘科技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 rot="10800000">
            <a:off x="3596022" y="4964144"/>
            <a:ext cx="1830856" cy="734290"/>
          </a:xfrm>
          <a:prstGeom prst="rect">
            <a:avLst/>
          </a:prstGeom>
          <a:gradFill>
            <a:gsLst>
              <a:gs pos="3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 userDrawn="1"/>
        </p:nvSpPr>
        <p:spPr>
          <a:xfrm rot="5400000">
            <a:off x="6789502" y="244321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 rot="5400000">
            <a:off x="4232347" y="4753442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731921" y="2735824"/>
            <a:ext cx="10599821" cy="496853"/>
          </a:xfrm>
          <a:prstGeom prst="rect">
            <a:avLst/>
          </a:prstGeom>
        </p:spPr>
        <p:txBody>
          <a:bodyPr lIns="0" rIns="0"/>
          <a:lstStyle>
            <a:lvl1pPr>
              <a:defRPr kumimoji="1"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单击此全处编辑母版标题样式</a:t>
            </a:r>
            <a:endParaRPr kumimoji="1"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731921" y="3989137"/>
            <a:ext cx="9144000" cy="299330"/>
          </a:xfrm>
          <a:prstGeom prst="rect">
            <a:avLst/>
          </a:prstGeom>
        </p:spPr>
        <p:txBody>
          <a:bodyPr lIns="0" rIns="0"/>
          <a:lstStyle>
            <a:lvl1pPr>
              <a:defRPr kumimoji="1"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10268200" y="4180218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9326881" y="6126480"/>
            <a:ext cx="2865120" cy="731520"/>
            <a:chOff x="3095597" y="3297494"/>
            <a:chExt cx="1053585" cy="372632"/>
          </a:xfrm>
        </p:grpSpPr>
        <p:sp>
          <p:nvSpPr>
            <p:cNvPr id="8" name="矩形 7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 rot="10800000">
            <a:off x="0" y="0"/>
            <a:ext cx="2865120" cy="731520"/>
            <a:chOff x="3095597" y="3297494"/>
            <a:chExt cx="1053585" cy="372632"/>
          </a:xfrm>
        </p:grpSpPr>
        <p:sp>
          <p:nvSpPr>
            <p:cNvPr id="11" name="矩形 10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ct val="120000"/>
              </a:lnSpc>
              <a:defRPr lang="zh-CN" altLang="en-US" sz="3600" kern="1200" spc="132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061997"/>
            <a:ext cx="9144000" cy="96996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7200" b="0" i="0" u="none" strike="noStrike" kern="1200" cap="none" spc="438" baseline="0" dirty="0">
                <a:solidFill>
                  <a:schemeClr val="bg1">
                    <a:lumMod val="95000"/>
                  </a:schemeClr>
                </a:solidFill>
                <a:uFillTx/>
                <a:latin typeface="Montserrat Medium" panose="00000600000000000000" pitchFamily="2" charset="0"/>
                <a:ea typeface="HarmonyOS Sans SC" panose="00000400000000000000" pitchFamily="2" charset="-122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©202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5086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6963" y="0"/>
            <a:ext cx="10165037" cy="5698434"/>
          </a:xfrm>
          <a:prstGeom prst="rect">
            <a:avLst/>
          </a:prstGeom>
        </p:spPr>
      </p:pic>
      <p:sp>
        <p:nvSpPr>
          <p:cNvPr id="18" name="矩形 17"/>
          <p:cNvSpPr/>
          <p:nvPr userDrawn="1"/>
        </p:nvSpPr>
        <p:spPr>
          <a:xfrm>
            <a:off x="0" y="0"/>
            <a:ext cx="9320463" cy="5698435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 rot="5400000">
            <a:off x="6789502" y="244321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5" name="图片 14" descr="QR 代码&#10;&#10;描述已自动生成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6" name="图片 15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24" name="文本框 23"/>
          <p:cNvSpPr txBox="1"/>
          <p:nvPr userDrawn="1"/>
        </p:nvSpPr>
        <p:spPr>
          <a:xfrm>
            <a:off x="773151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773151" y="2601412"/>
            <a:ext cx="600164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773151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18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18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 rot="10800000">
            <a:off x="3596022" y="4964144"/>
            <a:ext cx="1830856" cy="734290"/>
          </a:xfrm>
          <a:prstGeom prst="rect">
            <a:avLst/>
          </a:prstGeom>
          <a:gradFill>
            <a:gsLst>
              <a:gs pos="3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 rot="5400000">
            <a:off x="4232347" y="4753442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hlinkClick r:id="rId9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 userDrawn="1"/>
        </p:nvSpPr>
        <p:spPr>
          <a:xfrm>
            <a:off x="778757" y="2221132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778757" y="4131427"/>
            <a:ext cx="9144000" cy="461594"/>
          </a:xfrm>
          <a:prstGeom prst="rect">
            <a:avLst/>
          </a:prstGeom>
          <a:noFill/>
        </p:spPr>
        <p:txBody>
          <a:bodyPr wrap="none" lIns="0" tIns="108000" rtlCol="0">
            <a:noAutofit/>
          </a:bodyPr>
          <a:lstStyle>
            <a:lvl1pPr>
              <a:defRPr kumimoji="1" lang="zh-CN" altLang="en-US" sz="2400" b="0" i="0" u="none" strike="noStrike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8757" y="3002716"/>
            <a:ext cx="9144000" cy="884652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lvl1pPr>
              <a:defRPr kumimoji="1" lang="zh-CN" altLang="en-US" sz="5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kumimoji="1" lang="zh-CN" altLang="en-US" dirty="0"/>
              <a:t>单击此处编辑模板标题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0730322" y="0"/>
            <a:ext cx="561474" cy="2085474"/>
          </a:xfrm>
          <a:prstGeom prst="rect">
            <a:avLst/>
          </a:prstGeom>
          <a:gradFill>
            <a:gsLst>
              <a:gs pos="0">
                <a:srgbClr val="2CE2A6"/>
              </a:gs>
              <a:gs pos="100000">
                <a:srgbClr val="2CE2A6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©202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6137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片 10" descr="QR 代码&#10;&#10;描述已自动生成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2" name="图片 11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744820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16732" y="2601412"/>
            <a:ext cx="800058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61668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20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20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hlinkClick r:id="rId9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 userDrawn="1"/>
        </p:nvSpPr>
        <p:spPr>
          <a:xfrm>
            <a:off x="778757" y="2221132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778757" y="4131427"/>
            <a:ext cx="9144000" cy="461594"/>
          </a:xfrm>
          <a:prstGeom prst="rect">
            <a:avLst/>
          </a:prstGeom>
          <a:noFill/>
        </p:spPr>
        <p:txBody>
          <a:bodyPr wrap="none" lIns="0" tIns="108000" rtlCol="0">
            <a:noAutofit/>
          </a:bodyPr>
          <a:lstStyle>
            <a:lvl1pPr>
              <a:defRPr kumimoji="1" lang="zh-CN" altLang="en-US" sz="2400" b="0" i="0" u="none" strike="noStrike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8757" y="3002716"/>
            <a:ext cx="9144000" cy="884652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lvl1pPr>
              <a:defRPr kumimoji="1" lang="zh-CN" altLang="en-US" sz="5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kumimoji="1" lang="zh-CN" altLang="en-US" dirty="0"/>
              <a:t>单击此处编辑模板标题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0730322" y="0"/>
            <a:ext cx="561474" cy="2085474"/>
          </a:xfrm>
          <a:prstGeom prst="rect">
            <a:avLst/>
          </a:prstGeom>
          <a:gradFill>
            <a:gsLst>
              <a:gs pos="0">
                <a:srgbClr val="2CE2A6"/>
              </a:gs>
              <a:gs pos="100000">
                <a:srgbClr val="2CE2A6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 userDrawn="1"/>
        </p:nvSpPr>
        <p:spPr>
          <a:xfrm>
            <a:off x="779632" y="2938338"/>
            <a:ext cx="3535193" cy="604962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内容概览 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目录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5400000">
            <a:off x="1324219" y="837533"/>
            <a:ext cx="45719" cy="84914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 userDrawn="1"/>
        </p:nvSpPr>
        <p:spPr>
          <a:xfrm>
            <a:off x="922507" y="689124"/>
            <a:ext cx="2019985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sz="2800" dirty="0"/>
              <a:t>Contents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9326881" y="6126480"/>
            <a:ext cx="2865120" cy="731520"/>
            <a:chOff x="3095597" y="3297494"/>
            <a:chExt cx="1053585" cy="372632"/>
          </a:xfrm>
        </p:grpSpPr>
        <p:sp>
          <p:nvSpPr>
            <p:cNvPr id="8" name="矩形 7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 rot="10800000">
            <a:off x="0" y="0"/>
            <a:ext cx="2865120" cy="731520"/>
            <a:chOff x="3095597" y="3297494"/>
            <a:chExt cx="1053585" cy="372632"/>
          </a:xfrm>
        </p:grpSpPr>
        <p:sp>
          <p:nvSpPr>
            <p:cNvPr id="11" name="矩形 10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ct val="120000"/>
              </a:lnSpc>
              <a:defRPr lang="zh-CN" altLang="en-US" sz="3600" kern="1200" spc="132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061997"/>
            <a:ext cx="9144000" cy="96996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7200" b="0" i="0" u="none" strike="noStrike" kern="1200" cap="none" spc="438" baseline="0" dirty="0">
                <a:solidFill>
                  <a:schemeClr val="bg1">
                    <a:lumMod val="95000"/>
                  </a:schemeClr>
                </a:solidFill>
                <a:uFillTx/>
                <a:latin typeface="Montserrat Medium" panose="00000600000000000000" pitchFamily="2" charset="0"/>
                <a:ea typeface="HarmonyOS Sans SC" panose="00000400000000000000" pitchFamily="2" charset="-122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026</a:t>
            </a:r>
            <a:r>
              <a:rPr lang="zh-CN" altLang="en-US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6137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hlinkClick r:id="rId3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片 10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2" name="图片 11" descr="QR 代码&#10;&#10;描述已自动生成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744820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16732" y="2601412"/>
            <a:ext cx="800058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61668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20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20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6963" y="0"/>
            <a:ext cx="10165037" cy="5698434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0"/>
            <a:ext cx="9320463" cy="5698435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1921" y="1771304"/>
            <a:ext cx="2796962" cy="609398"/>
          </a:xfrm>
          <a:prstGeom prst="rect">
            <a:avLst/>
          </a:prstGeom>
        </p:spPr>
        <p:txBody>
          <a:bodyPr lIns="0" rIns="0"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kumimoji="1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zh-CN" altLang="en-US" dirty="0">
                <a:solidFill>
                  <a:schemeClr val="bg1"/>
                </a:solidFill>
              </a:rPr>
              <a:t>阿丘科技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 rot="10800000">
            <a:off x="3596022" y="4964144"/>
            <a:ext cx="1830856" cy="734290"/>
          </a:xfrm>
          <a:prstGeom prst="rect">
            <a:avLst/>
          </a:prstGeom>
          <a:gradFill>
            <a:gsLst>
              <a:gs pos="3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 userDrawn="1"/>
        </p:nvSpPr>
        <p:spPr>
          <a:xfrm rot="5400000">
            <a:off x="6789502" y="244321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 rot="5400000">
            <a:off x="4232347" y="4753442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731921" y="2735824"/>
            <a:ext cx="10599821" cy="496853"/>
          </a:xfrm>
          <a:prstGeom prst="rect">
            <a:avLst/>
          </a:prstGeom>
        </p:spPr>
        <p:txBody>
          <a:bodyPr lIns="0" rIns="0"/>
          <a:lstStyle>
            <a:lvl1pPr>
              <a:defRPr kumimoji="1"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单击此全处编辑母版标题样式</a:t>
            </a:r>
            <a:endParaRPr kumimoji="1"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731921" y="3989137"/>
            <a:ext cx="9144000" cy="299330"/>
          </a:xfrm>
          <a:prstGeom prst="rect">
            <a:avLst/>
          </a:prstGeom>
        </p:spPr>
        <p:txBody>
          <a:bodyPr lIns="0" rIns="0"/>
          <a:lstStyle>
            <a:lvl1pPr>
              <a:defRPr kumimoji="1"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10268200" y="4180218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9326881" y="6126480"/>
            <a:ext cx="2865120" cy="731520"/>
            <a:chOff x="3095597" y="3297494"/>
            <a:chExt cx="1053585" cy="372632"/>
          </a:xfrm>
        </p:grpSpPr>
        <p:sp>
          <p:nvSpPr>
            <p:cNvPr id="8" name="矩形 7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 rot="10800000">
            <a:off x="0" y="0"/>
            <a:ext cx="2865120" cy="731520"/>
            <a:chOff x="3095597" y="3297494"/>
            <a:chExt cx="1053585" cy="372632"/>
          </a:xfrm>
        </p:grpSpPr>
        <p:sp>
          <p:nvSpPr>
            <p:cNvPr id="11" name="矩形 10"/>
            <p:cNvSpPr/>
            <p:nvPr/>
          </p:nvSpPr>
          <p:spPr>
            <a:xfrm flipH="1">
              <a:off x="3095597" y="3458837"/>
              <a:ext cx="1053585" cy="211289"/>
            </a:xfrm>
            <a:prstGeom prst="rect">
              <a:avLst/>
            </a:prstGeom>
            <a:gradFill>
              <a:gsLst>
                <a:gs pos="31000">
                  <a:srgbClr val="0061FF"/>
                </a:gs>
                <a:gs pos="100000">
                  <a:srgbClr val="0061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rot="16200000" flipH="1" flipV="1">
              <a:off x="3916921" y="3387919"/>
              <a:ext cx="322686" cy="141836"/>
            </a:xfrm>
            <a:prstGeom prst="rect">
              <a:avLst/>
            </a:prstGeom>
            <a:gradFill>
              <a:gsLst>
                <a:gs pos="31000">
                  <a:srgbClr val="2CE2A6"/>
                </a:gs>
                <a:gs pos="100000">
                  <a:srgbClr val="2CE2A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0" lang="zh-CN" altLang="en-GB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rmonyOS Sans SC" panose="00000400000000000000" pitchFamily="2" charset="-122"/>
                <a:ea typeface="HarmonyOS Sans SC" panose="00000400000000000000" pitchFamily="2" charset="-122"/>
                <a:sym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ct val="120000"/>
              </a:lnSpc>
              <a:defRPr lang="zh-CN" altLang="en-US" sz="3600" kern="1200" spc="132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061997"/>
            <a:ext cx="9144000" cy="96996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7200" b="0" i="0" u="none" strike="noStrike" kern="1200" cap="none" spc="438" baseline="0" dirty="0">
                <a:solidFill>
                  <a:schemeClr val="bg1">
                    <a:lumMod val="95000"/>
                  </a:schemeClr>
                </a:solidFill>
                <a:uFillTx/>
                <a:latin typeface="Montserrat Medium" panose="00000600000000000000" pitchFamily="2" charset="0"/>
                <a:ea typeface="HarmonyOS Sans SC" panose="00000400000000000000" pitchFamily="2" charset="-122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©202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5086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6963" y="0"/>
            <a:ext cx="10165037" cy="5698434"/>
          </a:xfrm>
          <a:prstGeom prst="rect">
            <a:avLst/>
          </a:prstGeom>
        </p:spPr>
      </p:pic>
      <p:sp>
        <p:nvSpPr>
          <p:cNvPr id="18" name="矩形 17"/>
          <p:cNvSpPr/>
          <p:nvPr userDrawn="1"/>
        </p:nvSpPr>
        <p:spPr>
          <a:xfrm>
            <a:off x="0" y="0"/>
            <a:ext cx="9320463" cy="5698435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 rot="5400000">
            <a:off x="6789502" y="244321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5" name="图片 14" descr="QR 代码&#10;&#10;描述已自动生成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6" name="图片 15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24" name="文本框 23"/>
          <p:cNvSpPr txBox="1"/>
          <p:nvPr userDrawn="1"/>
        </p:nvSpPr>
        <p:spPr>
          <a:xfrm>
            <a:off x="773151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773151" y="2601412"/>
            <a:ext cx="600164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773151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18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18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 rot="10800000">
            <a:off x="3596022" y="4964144"/>
            <a:ext cx="1830856" cy="734290"/>
          </a:xfrm>
          <a:prstGeom prst="rect">
            <a:avLst/>
          </a:prstGeom>
          <a:gradFill>
            <a:gsLst>
              <a:gs pos="3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 rot="5400000">
            <a:off x="4232347" y="4753442"/>
            <a:ext cx="834190" cy="345547"/>
          </a:xfrm>
          <a:prstGeom prst="rect">
            <a:avLst/>
          </a:prstGeom>
          <a:gradFill>
            <a:gsLst>
              <a:gs pos="36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hlinkClick r:id="rId9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 userDrawn="1"/>
        </p:nvSpPr>
        <p:spPr>
          <a:xfrm>
            <a:off x="778757" y="2221132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5825067" y="4311353"/>
            <a:ext cx="541867" cy="77550"/>
          </a:xfrm>
          <a:prstGeom prst="rect">
            <a:avLst/>
          </a:prstGeom>
          <a:solidFill>
            <a:srgbClr val="0061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262626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778757" y="4131427"/>
            <a:ext cx="9144000" cy="461594"/>
          </a:xfrm>
          <a:prstGeom prst="rect">
            <a:avLst/>
          </a:prstGeom>
          <a:noFill/>
        </p:spPr>
        <p:txBody>
          <a:bodyPr wrap="none" lIns="0" tIns="108000" rtlCol="0">
            <a:noAutofit/>
          </a:bodyPr>
          <a:lstStyle>
            <a:lvl1pPr>
              <a:defRPr kumimoji="1" lang="zh-CN" altLang="en-US" sz="2400" b="0" i="0" u="none" strike="noStrike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8757" y="3002716"/>
            <a:ext cx="9144000" cy="884652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lvl1pPr>
              <a:defRPr kumimoji="1" lang="zh-CN" altLang="en-US" sz="5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kumimoji="1" lang="zh-CN" altLang="en-US" dirty="0"/>
              <a:t>单击此处编辑模板标题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90228" y="6064964"/>
            <a:ext cx="117916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0730322" y="0"/>
            <a:ext cx="561474" cy="2085474"/>
          </a:xfrm>
          <a:prstGeom prst="rect">
            <a:avLst/>
          </a:prstGeom>
          <a:gradFill>
            <a:gsLst>
              <a:gs pos="0">
                <a:srgbClr val="2CE2A6"/>
              </a:gs>
              <a:gs pos="100000">
                <a:srgbClr val="2CE2A6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384" y="5914308"/>
            <a:ext cx="1805370" cy="609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页版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528896"/>
            <a:ext cx="70338" cy="289252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2277" y="544556"/>
            <a:ext cx="1235847" cy="243029"/>
          </a:xfrm>
          <a:prstGeom prst="rect">
            <a:avLst/>
          </a:prstGeom>
        </p:spPr>
      </p:pic>
      <p:sp>
        <p:nvSpPr>
          <p:cNvPr id="9" name="©2023 Aqrose Technology Co., Ltd. All rights reserved."/>
          <p:cNvSpPr txBox="1"/>
          <p:nvPr userDrawn="1"/>
        </p:nvSpPr>
        <p:spPr>
          <a:xfrm>
            <a:off x="523875" y="6552825"/>
            <a:ext cx="2232984" cy="1077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 defTabSz="355600">
              <a:defRPr sz="800" b="0">
                <a:solidFill>
                  <a:srgbClr val="A7A7A7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©202</a:t>
            </a:r>
            <a:r>
              <a:rPr lang="en-US" altLang="zh-CN"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sz="700" b="0" i="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Aqrose</a:t>
            </a:r>
            <a:r>
              <a:rPr sz="7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Technology Co., Ltd. All rights reserved.</a:t>
            </a:r>
            <a:endParaRPr sz="7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20638" y="461379"/>
            <a:ext cx="10515600" cy="404895"/>
          </a:xfrm>
          <a:prstGeom prst="rect">
            <a:avLst/>
          </a:prstGeom>
        </p:spPr>
        <p:txBody>
          <a:bodyPr lIns="0" tIns="72000"/>
          <a:lstStyle>
            <a:lvl1pPr marL="0" algn="l" defTabSz="914400" rtl="0" eaLnBrk="1" latinLnBrk="0" hangingPunct="1">
              <a:defRPr kumimoji="1" lang="zh-CN" altLang="en-US" sz="2400" kern="1200" dirty="0">
                <a:solidFill>
                  <a:srgbClr val="006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5579706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 rotWithShape="1">
          <a:blip r:embed="rId2"/>
          <a:srcRect l="9982" r="4553"/>
          <a:stretch>
            <a:fillRect/>
          </a:stretch>
        </p:blipFill>
        <p:spPr>
          <a:xfrm>
            <a:off x="0" y="196584"/>
            <a:ext cx="12192000" cy="520097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0800000">
            <a:off x="8610365" y="1"/>
            <a:ext cx="1830856" cy="734290"/>
          </a:xfrm>
          <a:prstGeom prst="rect">
            <a:avLst/>
          </a:prstGeom>
          <a:gradFill>
            <a:gsLst>
              <a:gs pos="36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96" y="6027036"/>
            <a:ext cx="208022" cy="20802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8299" y="6027036"/>
            <a:ext cx="208022" cy="208022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375211" y="6013675"/>
            <a:ext cx="172579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contact@aqrose.com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8282721" y="6192319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公众号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005063" y="61923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12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人工客服</a:t>
            </a:r>
            <a:endParaRPr kumimoji="1" lang="zh-CN" altLang="en-US" sz="12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片 10" descr="QR 代码&#10;&#10;描述已自动生成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720176" y="4525680"/>
            <a:ext cx="1586754" cy="1586754"/>
          </a:xfrm>
          <a:prstGeom prst="rect">
            <a:avLst/>
          </a:prstGeom>
        </p:spPr>
      </p:pic>
      <p:pic>
        <p:nvPicPr>
          <p:cNvPr id="12" name="图片 11" descr="QR 代码&#10;&#10;描述已自动生成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518643" y="4525680"/>
            <a:ext cx="1588392" cy="1588392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744820" y="1564921"/>
            <a:ext cx="17184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spc="150" dirty="0">
                <a:solidFill>
                  <a:srgbClr val="2CE2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阿丘科技</a:t>
            </a:r>
            <a:endParaRPr kumimoji="1" lang="zh-CN" altLang="en-US" sz="3200" spc="150" dirty="0">
              <a:solidFill>
                <a:srgbClr val="2CE2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16732" y="2601412"/>
            <a:ext cx="8000588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kumimoji="1" lang="en-GB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平台及解决方案提供商</a:t>
            </a:r>
            <a:endParaRPr kumimoji="1"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61668" y="3517925"/>
            <a:ext cx="8430513" cy="46166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r>
              <a:rPr lang="en-US" altLang="zh-CN" sz="2000" b="0" i="0" u="none" strike="noStrike" spc="150" baseline="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FOR EVERY FACTORY</a:t>
            </a:r>
            <a:endParaRPr kumimoji="1" lang="zh-CN" altLang="en-US" sz="2000" b="0" i="0" spc="150" baseline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hlinkClick r:id="rId9"/>
          </p:cNvPr>
          <p:cNvSpPr txBox="1"/>
          <p:nvPr userDrawn="1"/>
        </p:nvSpPr>
        <p:spPr>
          <a:xfrm>
            <a:off x="1123567" y="6013675"/>
            <a:ext cx="12224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400" b="0" i="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cn.aqrose.com</a:t>
            </a:r>
            <a:endParaRPr kumimoji="1" lang="zh-CN" altLang="en-US" sz="14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22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汇报人：模型和智能体产品线</a:t>
            </a:r>
            <a:r>
              <a:rPr kumimoji="1" lang="en-US" altLang="zh-CN" dirty="0"/>
              <a:t>-</a:t>
            </a:r>
            <a:r>
              <a:rPr kumimoji="1" lang="zh-CN" altLang="en-US" dirty="0"/>
              <a:t>研发</a:t>
            </a:r>
            <a:r>
              <a:rPr kumimoji="1" dirty="0"/>
              <a:t>部</a:t>
            </a:r>
            <a:r>
              <a:rPr kumimoji="1" lang="en-US" altLang="zh-CN" dirty="0"/>
              <a:t> </a:t>
            </a:r>
            <a:r>
              <a:rPr kumimoji="1" dirty="0"/>
              <a:t>赵联城</a:t>
            </a:r>
            <a:endParaRPr kumimoji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78757" y="3002716"/>
            <a:ext cx="9144000" cy="882650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转正述职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 txBox="1"/>
          <p:nvPr/>
        </p:nvSpPr>
        <p:spPr>
          <a:xfrm>
            <a:off x="745492" y="845121"/>
            <a:ext cx="7975861" cy="94301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GB" altLang="zh-CN" sz="9600" b="1" dirty="0">
                <a:solidFill>
                  <a:schemeClr val="bg1">
                    <a:lumMod val="95000"/>
                  </a:schemeClr>
                </a:solidFill>
              </a:rPr>
              <a:t>CONTENTS</a:t>
            </a:r>
            <a:endParaRPr lang="zh-CN" altLang="en-US" sz="9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文本占位符 2"/>
          <p:cNvSpPr txBox="1"/>
          <p:nvPr>
            <p:custDataLst>
              <p:tags r:id="rId1"/>
            </p:custDataLst>
          </p:nvPr>
        </p:nvSpPr>
        <p:spPr>
          <a:xfrm>
            <a:off x="2950111" y="2368171"/>
            <a:ext cx="5810250" cy="31184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zh-CN" altLang="en-US" sz="2200" dirty="0"/>
              <a:t>一、个人介绍</a:t>
            </a:r>
            <a:endParaRPr lang="zh-CN" altLang="en-US" sz="2200" dirty="0"/>
          </a:p>
        </p:txBody>
      </p:sp>
      <p:sp>
        <p:nvSpPr>
          <p:cNvPr id="4" name="文本占位符 2"/>
          <p:cNvSpPr txBox="1"/>
          <p:nvPr>
            <p:custDataLst>
              <p:tags r:id="rId2"/>
            </p:custDataLst>
          </p:nvPr>
        </p:nvSpPr>
        <p:spPr>
          <a:xfrm>
            <a:off x="6128148" y="2368171"/>
            <a:ext cx="3695700" cy="454568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altLang="zh-CN" sz="3600" dirty="0"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文本占位符 2"/>
          <p:cNvSpPr txBox="1"/>
          <p:nvPr>
            <p:custDataLst>
              <p:tags r:id="rId3"/>
            </p:custDataLst>
          </p:nvPr>
        </p:nvSpPr>
        <p:spPr>
          <a:xfrm>
            <a:off x="2950111" y="3198116"/>
            <a:ext cx="5810250" cy="31184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zh-CN" altLang="en-US" sz="2200" dirty="0"/>
              <a:t>二、工作篇</a:t>
            </a:r>
            <a:endParaRPr lang="zh-CN" altLang="en-US" sz="2200" dirty="0"/>
          </a:p>
        </p:txBody>
      </p:sp>
      <p:sp>
        <p:nvSpPr>
          <p:cNvPr id="6" name="文本占位符 2"/>
          <p:cNvSpPr txBox="1"/>
          <p:nvPr>
            <p:custDataLst>
              <p:tags r:id="rId4"/>
            </p:custDataLst>
          </p:nvPr>
        </p:nvSpPr>
        <p:spPr>
          <a:xfrm>
            <a:off x="6128148" y="3198116"/>
            <a:ext cx="3695700" cy="454568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altLang="zh-CN" sz="3600" dirty="0">
                <a:solidFill>
                  <a:schemeClr val="bg1">
                    <a:lumMod val="85000"/>
                  </a:schemeClr>
                </a:solidFill>
              </a:rPr>
              <a:t>02</a:t>
            </a:r>
            <a:endParaRPr lang="zh-CN" alt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7" name="直线连接符 6"/>
          <p:cNvCxnSpPr/>
          <p:nvPr>
            <p:custDataLst>
              <p:tags r:id="rId5"/>
            </p:custDataLst>
          </p:nvPr>
        </p:nvCxnSpPr>
        <p:spPr>
          <a:xfrm>
            <a:off x="2950110" y="2187258"/>
            <a:ext cx="687373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/>
          <p:cNvCxnSpPr/>
          <p:nvPr>
            <p:custDataLst>
              <p:tags r:id="rId6"/>
            </p:custDataLst>
          </p:nvPr>
        </p:nvCxnSpPr>
        <p:spPr>
          <a:xfrm>
            <a:off x="2950110" y="3017203"/>
            <a:ext cx="687373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>
            <p:custDataLst>
              <p:tags r:id="rId7"/>
            </p:custDataLst>
          </p:nvPr>
        </p:nvCxnSpPr>
        <p:spPr>
          <a:xfrm>
            <a:off x="2950110" y="3927158"/>
            <a:ext cx="687373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2"/>
          <p:cNvSpPr txBox="1"/>
          <p:nvPr>
            <p:custDataLst>
              <p:tags r:id="rId8"/>
            </p:custDataLst>
          </p:nvPr>
        </p:nvSpPr>
        <p:spPr>
          <a:xfrm>
            <a:off x="2950111" y="3900426"/>
            <a:ext cx="5810250" cy="31184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zh-CN" altLang="en-US" sz="2200" dirty="0"/>
              <a:t>三、挑战与成长</a:t>
            </a:r>
            <a:endParaRPr lang="zh-CN" altLang="en-US" sz="2200" dirty="0"/>
          </a:p>
        </p:txBody>
      </p:sp>
      <p:sp>
        <p:nvSpPr>
          <p:cNvPr id="11" name="文本占位符 2"/>
          <p:cNvSpPr txBox="1"/>
          <p:nvPr>
            <p:custDataLst>
              <p:tags r:id="rId9"/>
            </p:custDataLst>
          </p:nvPr>
        </p:nvSpPr>
        <p:spPr>
          <a:xfrm>
            <a:off x="6128148" y="3900426"/>
            <a:ext cx="3695700" cy="454568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altLang="zh-CN" sz="3600" dirty="0"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占位符 2"/>
          <p:cNvSpPr txBox="1"/>
          <p:nvPr/>
        </p:nvSpPr>
        <p:spPr>
          <a:xfrm>
            <a:off x="745493" y="988989"/>
            <a:ext cx="2381252" cy="436649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GB" altLang="zh-CN" sz="4400" dirty="0"/>
              <a:t>Contents</a:t>
            </a:r>
            <a:endParaRPr lang="zh-CN" altLang="en-US" sz="4400" dirty="0"/>
          </a:p>
        </p:txBody>
      </p:sp>
      <p:sp>
        <p:nvSpPr>
          <p:cNvPr id="13" name="矩形 12"/>
          <p:cNvSpPr/>
          <p:nvPr/>
        </p:nvSpPr>
        <p:spPr>
          <a:xfrm flipH="1">
            <a:off x="8991598" y="0"/>
            <a:ext cx="3200401" cy="454568"/>
          </a:xfrm>
          <a:prstGeom prst="rect">
            <a:avLst/>
          </a:prstGeom>
          <a:gradFill>
            <a:gsLst>
              <a:gs pos="9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zh-CN" altLang="en-GB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 rot="10800000" flipH="1">
            <a:off x="-2" y="6686550"/>
            <a:ext cx="12192002" cy="171450"/>
          </a:xfrm>
          <a:prstGeom prst="rect">
            <a:avLst/>
          </a:prstGeom>
          <a:gradFill>
            <a:gsLst>
              <a:gs pos="15000">
                <a:srgbClr val="0061FF"/>
              </a:gs>
              <a:gs pos="100000">
                <a:srgbClr val="0061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zh-CN" altLang="en-GB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 flipH="1" flipV="1">
            <a:off x="9658350" y="363067"/>
            <a:ext cx="1187290" cy="181609"/>
          </a:xfrm>
          <a:prstGeom prst="rect">
            <a:avLst/>
          </a:prstGeom>
          <a:gradFill>
            <a:gsLst>
              <a:gs pos="31000">
                <a:srgbClr val="2CE2A6"/>
              </a:gs>
              <a:gs pos="100000">
                <a:srgbClr val="2CE2A6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zh-CN" altLang="en-GB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2379691" y="2368171"/>
            <a:ext cx="251717" cy="251716"/>
            <a:chOff x="3768436" y="3004441"/>
            <a:chExt cx="251717" cy="251716"/>
          </a:xfrm>
        </p:grpSpPr>
        <p:sp>
          <p:nvSpPr>
            <p:cNvPr id="17" name="矩形 16"/>
            <p:cNvSpPr/>
            <p:nvPr>
              <p:custDataLst>
                <p:tags r:id="rId11"/>
              </p:custDataLst>
            </p:nvPr>
          </p:nvSpPr>
          <p:spPr>
            <a:xfrm>
              <a:off x="3768436" y="3004441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12"/>
              </p:custDataLst>
            </p:nvPr>
          </p:nvSpPr>
          <p:spPr>
            <a:xfrm>
              <a:off x="3931989" y="3167993"/>
              <a:ext cx="88164" cy="88164"/>
            </a:xfrm>
            <a:prstGeom prst="rect">
              <a:avLst/>
            </a:prstGeom>
            <a:solidFill>
              <a:srgbClr val="2CE2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9" name="组合 18"/>
          <p:cNvGrpSpPr/>
          <p:nvPr>
            <p:custDataLst>
              <p:tags r:id="rId13"/>
            </p:custDataLst>
          </p:nvPr>
        </p:nvGrpSpPr>
        <p:grpSpPr>
          <a:xfrm>
            <a:off x="2379691" y="3197651"/>
            <a:ext cx="251717" cy="251716"/>
            <a:chOff x="3768436" y="3004441"/>
            <a:chExt cx="251717" cy="251716"/>
          </a:xfrm>
        </p:grpSpPr>
        <p:sp>
          <p:nvSpPr>
            <p:cNvPr id="20" name="矩形 19"/>
            <p:cNvSpPr/>
            <p:nvPr>
              <p:custDataLst>
                <p:tags r:id="rId14"/>
              </p:custDataLst>
            </p:nvPr>
          </p:nvSpPr>
          <p:spPr>
            <a:xfrm>
              <a:off x="3768436" y="3004441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5"/>
              </p:custDataLst>
            </p:nvPr>
          </p:nvSpPr>
          <p:spPr>
            <a:xfrm>
              <a:off x="3931989" y="3167993"/>
              <a:ext cx="88164" cy="88164"/>
            </a:xfrm>
            <a:prstGeom prst="rect">
              <a:avLst/>
            </a:prstGeom>
            <a:solidFill>
              <a:srgbClr val="2CE2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" name="组合 21"/>
          <p:cNvGrpSpPr/>
          <p:nvPr>
            <p:custDataLst>
              <p:tags r:id="rId16"/>
            </p:custDataLst>
          </p:nvPr>
        </p:nvGrpSpPr>
        <p:grpSpPr>
          <a:xfrm>
            <a:off x="2379691" y="3903678"/>
            <a:ext cx="251717" cy="251716"/>
            <a:chOff x="3768436" y="3004441"/>
            <a:chExt cx="251717" cy="251716"/>
          </a:xfrm>
        </p:grpSpPr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3768436" y="3004441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矩形 23"/>
            <p:cNvSpPr/>
            <p:nvPr>
              <p:custDataLst>
                <p:tags r:id="rId18"/>
              </p:custDataLst>
            </p:nvPr>
          </p:nvSpPr>
          <p:spPr>
            <a:xfrm>
              <a:off x="3931989" y="3167993"/>
              <a:ext cx="88164" cy="88164"/>
            </a:xfrm>
            <a:prstGeom prst="rect">
              <a:avLst/>
            </a:prstGeom>
            <a:solidFill>
              <a:srgbClr val="2CE2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8" name="直线连接符 8"/>
          <p:cNvCxnSpPr/>
          <p:nvPr>
            <p:custDataLst>
              <p:tags r:id="rId19"/>
            </p:custDataLst>
          </p:nvPr>
        </p:nvCxnSpPr>
        <p:spPr>
          <a:xfrm>
            <a:off x="2950110" y="4548823"/>
            <a:ext cx="687373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"/>
          <p:cNvSpPr txBox="1"/>
          <p:nvPr>
            <p:custDataLst>
              <p:tags r:id="rId20"/>
            </p:custDataLst>
          </p:nvPr>
        </p:nvSpPr>
        <p:spPr>
          <a:xfrm>
            <a:off x="2950111" y="4609721"/>
            <a:ext cx="5810250" cy="31184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zh-CN" altLang="en-US" sz="2200" dirty="0"/>
              <a:t>四、未来规划</a:t>
            </a:r>
            <a:endParaRPr lang="zh-CN" altLang="en-US" sz="2200" dirty="0"/>
          </a:p>
        </p:txBody>
      </p:sp>
      <p:sp>
        <p:nvSpPr>
          <p:cNvPr id="30" name="文本占位符 2"/>
          <p:cNvSpPr txBox="1"/>
          <p:nvPr>
            <p:custDataLst>
              <p:tags r:id="rId21"/>
            </p:custDataLst>
          </p:nvPr>
        </p:nvSpPr>
        <p:spPr>
          <a:xfrm>
            <a:off x="6128148" y="4609721"/>
            <a:ext cx="3695700" cy="454568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altLang="zh-CN" sz="3600" dirty="0">
                <a:solidFill>
                  <a:schemeClr val="bg1">
                    <a:lumMod val="85000"/>
                  </a:schemeClr>
                </a:solidFill>
              </a:rPr>
              <a:t>04</a:t>
            </a:r>
            <a:endParaRPr lang="zh-CN" alt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31" name="组合 30"/>
          <p:cNvGrpSpPr/>
          <p:nvPr>
            <p:custDataLst>
              <p:tags r:id="rId22"/>
            </p:custDataLst>
          </p:nvPr>
        </p:nvGrpSpPr>
        <p:grpSpPr>
          <a:xfrm>
            <a:off x="2379691" y="4612973"/>
            <a:ext cx="251717" cy="251716"/>
            <a:chOff x="3768436" y="3004441"/>
            <a:chExt cx="251717" cy="251716"/>
          </a:xfrm>
        </p:grpSpPr>
        <p:sp>
          <p:nvSpPr>
            <p:cNvPr id="32" name="矩形 31"/>
            <p:cNvSpPr/>
            <p:nvPr>
              <p:custDataLst>
                <p:tags r:id="rId23"/>
              </p:custDataLst>
            </p:nvPr>
          </p:nvSpPr>
          <p:spPr>
            <a:xfrm>
              <a:off x="3768436" y="3004441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>
              <p:custDataLst>
                <p:tags r:id="rId24"/>
              </p:custDataLst>
            </p:nvPr>
          </p:nvSpPr>
          <p:spPr>
            <a:xfrm>
              <a:off x="3931989" y="3167993"/>
              <a:ext cx="88164" cy="88164"/>
            </a:xfrm>
            <a:prstGeom prst="rect">
              <a:avLst/>
            </a:prstGeom>
            <a:solidFill>
              <a:srgbClr val="2CE2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5" name="直线连接符 8"/>
          <p:cNvCxnSpPr/>
          <p:nvPr>
            <p:custDataLst>
              <p:tags r:id="rId25"/>
            </p:custDataLst>
          </p:nvPr>
        </p:nvCxnSpPr>
        <p:spPr>
          <a:xfrm>
            <a:off x="2950110" y="5097463"/>
            <a:ext cx="687373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2"/>
          <p:cNvSpPr txBox="1"/>
          <p:nvPr>
            <p:custDataLst>
              <p:tags r:id="rId26"/>
            </p:custDataLst>
          </p:nvPr>
        </p:nvSpPr>
        <p:spPr>
          <a:xfrm>
            <a:off x="2950111" y="5319016"/>
            <a:ext cx="5810250" cy="311845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zh-CN" altLang="en-US" sz="2200" dirty="0"/>
              <a:t>五、</a:t>
            </a:r>
            <a:r>
              <a:rPr lang="en-US" altLang="zh-CN" sz="2200" dirty="0"/>
              <a:t>AI</a:t>
            </a:r>
            <a:r>
              <a:rPr lang="zh-CN" altLang="en-US" sz="2200" dirty="0"/>
              <a:t>与我</a:t>
            </a:r>
            <a:endParaRPr lang="zh-CN" altLang="en-US" sz="2200" dirty="0"/>
          </a:p>
        </p:txBody>
      </p:sp>
      <p:sp>
        <p:nvSpPr>
          <p:cNvPr id="27" name="文本占位符 2"/>
          <p:cNvSpPr txBox="1"/>
          <p:nvPr>
            <p:custDataLst>
              <p:tags r:id="rId27"/>
            </p:custDataLst>
          </p:nvPr>
        </p:nvSpPr>
        <p:spPr>
          <a:xfrm>
            <a:off x="6128148" y="5319016"/>
            <a:ext cx="3695700" cy="454568"/>
          </a:xfrm>
          <a:prstGeom prst="rect">
            <a:avLst/>
          </a:prstGeom>
        </p:spPr>
        <p:txBody>
          <a:bodyPr lIns="0" rIns="0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altLang="zh-CN" sz="3600" dirty="0">
                <a:solidFill>
                  <a:schemeClr val="bg1">
                    <a:lumMod val="85000"/>
                  </a:schemeClr>
                </a:solidFill>
              </a:rPr>
              <a:t>05</a:t>
            </a:r>
            <a:endParaRPr lang="zh-CN" alt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34" name="组合 33"/>
          <p:cNvGrpSpPr/>
          <p:nvPr>
            <p:custDataLst>
              <p:tags r:id="rId28"/>
            </p:custDataLst>
          </p:nvPr>
        </p:nvGrpSpPr>
        <p:grpSpPr>
          <a:xfrm>
            <a:off x="2379691" y="5322268"/>
            <a:ext cx="251717" cy="251716"/>
            <a:chOff x="3768436" y="3004441"/>
            <a:chExt cx="251717" cy="251716"/>
          </a:xfrm>
        </p:grpSpPr>
        <p:sp>
          <p:nvSpPr>
            <p:cNvPr id="35" name="矩形 34"/>
            <p:cNvSpPr/>
            <p:nvPr>
              <p:custDataLst>
                <p:tags r:id="rId29"/>
              </p:custDataLst>
            </p:nvPr>
          </p:nvSpPr>
          <p:spPr>
            <a:xfrm>
              <a:off x="3768436" y="3004441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30"/>
              </p:custDataLst>
            </p:nvPr>
          </p:nvSpPr>
          <p:spPr>
            <a:xfrm>
              <a:off x="3931989" y="3167993"/>
              <a:ext cx="88164" cy="88164"/>
            </a:xfrm>
            <a:prstGeom prst="rect">
              <a:avLst/>
            </a:prstGeom>
            <a:solidFill>
              <a:srgbClr val="2CE2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</p:spPr>
        <p:txBody>
          <a:bodyPr/>
          <a:lstStyle/>
          <a:p>
            <a:r>
              <a:rPr kumimoji="1" lang="zh-CN" altLang="en-US" dirty="0"/>
              <a:t>个人介绍篇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3198" y="612648"/>
            <a:ext cx="59436" cy="320040"/>
          </a:xfrm>
          <a:prstGeom prst="rect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0086" y="539496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1、个人介绍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451910" y="5486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r">
              <a:buNone/>
            </a:pP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04768" y="557530"/>
            <a:ext cx="1518285" cy="3752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6AF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942" y="1234440"/>
            <a:ext cx="4434840" cy="5349240"/>
          </a:xfrm>
          <a:prstGeom prst="roundRect">
            <a:avLst>
              <a:gd name="adj" fmla="val 1649"/>
            </a:avLst>
          </a:prstGeom>
          <a:solidFill>
            <a:srgbClr val="F4FAFF">
              <a:alpha val="91000"/>
            </a:srgbClr>
          </a:solidFill>
          <a:ln w="12700">
            <a:solidFill>
              <a:srgbClr val="F4FA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5238" y="1234440"/>
            <a:ext cx="6684264" cy="5349240"/>
          </a:xfrm>
          <a:prstGeom prst="roundRect">
            <a:avLst>
              <a:gd name="adj" fmla="val 1368"/>
            </a:avLst>
          </a:prstGeom>
          <a:solidFill>
            <a:srgbClr val="F4FAFF">
              <a:alpha val="91000"/>
            </a:srgbClr>
          </a:solidFill>
          <a:ln w="12700">
            <a:solidFill>
              <a:srgbClr val="F4FA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686" y="1591056"/>
            <a:ext cx="548640" cy="548640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7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0126" y="1691640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9078" y="160934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8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姓名：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09078" y="1920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赵联城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58686" y="2377440"/>
            <a:ext cx="39776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686" y="2596896"/>
            <a:ext cx="548640" cy="548640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7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126" y="2697480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9078" y="26151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8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毕业院校：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09078" y="29260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闽南师范大学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58686" y="3383280"/>
            <a:ext cx="39776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686" y="3602736"/>
            <a:ext cx="548640" cy="548640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7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126" y="3703320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9078" y="362102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8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入职时间：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509078" y="393192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2025.10.27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658686" y="4389120"/>
            <a:ext cx="39776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686" y="4608576"/>
            <a:ext cx="548640" cy="548640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7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126" y="4709160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▤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9078" y="462686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8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岗位：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09078" y="493776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研发工程师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5358702" y="1481328"/>
            <a:ext cx="77724" cy="283464"/>
          </a:xfrm>
          <a:prstGeom prst="rect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734" y="143103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工作方向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50142" y="1997964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750" y="1920240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ARS / ADC 平台功能开发与维护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450142" y="2308860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750" y="2231136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设备接入、联调及项目对接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450142" y="2619756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750" y="2542032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需求支持、问题排查与现场协同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5358702" y="2962656"/>
            <a:ext cx="6153912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58702" y="3182112"/>
            <a:ext cx="77724" cy="283464"/>
          </a:xfrm>
          <a:prstGeom prst="rect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734" y="313182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个人优点与缺点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50142" y="358444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1520" dirty="0"/>
          </a:p>
        </p:txBody>
      </p:sp>
      <p:sp>
        <p:nvSpPr>
          <p:cNvPr id="40" name="Shape 38"/>
          <p:cNvSpPr/>
          <p:nvPr/>
        </p:nvSpPr>
        <p:spPr>
          <a:xfrm>
            <a:off x="5450142" y="3954780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750" y="3877056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始终保持学习心态，</a:t>
            </a:r>
            <a:r>
              <a:rPr lang="zh-CN" alt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</a:t>
            </a: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技术，也渴望学习其他领域</a:t>
            </a:r>
            <a:endParaRPr lang="zh-CN" altLang="en-US" sz="1440" dirty="0">
              <a:solidFill>
                <a:srgbClr val="1018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50142" y="4283964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623" y="4206240"/>
            <a:ext cx="5328285" cy="3441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只要能够学习到新东西，即使压力更大一些，也愿意主动承担与尝试</a:t>
            </a:r>
            <a:endParaRPr lang="en-US" sz="1440" dirty="0"/>
          </a:p>
        </p:txBody>
      </p:sp>
      <p:sp>
        <p:nvSpPr>
          <p:cNvPr id="44" name="Text 42"/>
          <p:cNvSpPr/>
          <p:nvPr/>
        </p:nvSpPr>
        <p:spPr>
          <a:xfrm>
            <a:off x="5450142" y="45628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5450142" y="4933188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623" y="4855210"/>
            <a:ext cx="5770245" cy="3187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AI 辅助下，个人开发能力已有明显提升，但在架构思维方面需</a:t>
            </a:r>
            <a:r>
              <a:rPr lang="zh-CN" alt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要持续</a:t>
            </a: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加强</a:t>
            </a:r>
            <a:endParaRPr lang="en-US" sz="1440" dirty="0"/>
          </a:p>
        </p:txBody>
      </p:sp>
      <p:sp>
        <p:nvSpPr>
          <p:cNvPr id="47" name="Shape 45"/>
          <p:cNvSpPr/>
          <p:nvPr/>
        </p:nvSpPr>
        <p:spPr>
          <a:xfrm>
            <a:off x="5450142" y="5262372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2750" y="5184648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需要进一步提升整体方案设计与输出能力</a:t>
            </a:r>
            <a:endParaRPr lang="en-US" sz="1440" dirty="0"/>
          </a:p>
        </p:txBody>
      </p:sp>
      <p:sp>
        <p:nvSpPr>
          <p:cNvPr id="49" name="Shape 47"/>
          <p:cNvSpPr/>
          <p:nvPr/>
        </p:nvSpPr>
        <p:spPr>
          <a:xfrm>
            <a:off x="5358702" y="5468112"/>
            <a:ext cx="6153912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58702" y="5623560"/>
            <a:ext cx="77724" cy="283464"/>
          </a:xfrm>
          <a:prstGeom prst="rect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734" y="557326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6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个人定位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450142" y="6057900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750" y="5980176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以软件开发为基础，逐步向设备集成与项目落地方向发展</a:t>
            </a:r>
            <a:endParaRPr lang="en-US" sz="1440" dirty="0"/>
          </a:p>
        </p:txBody>
      </p:sp>
      <p:sp>
        <p:nvSpPr>
          <p:cNvPr id="54" name="Shape 52"/>
          <p:cNvSpPr/>
          <p:nvPr/>
        </p:nvSpPr>
        <p:spPr>
          <a:xfrm>
            <a:off x="5450142" y="6359652"/>
            <a:ext cx="100584" cy="100584"/>
          </a:xfrm>
          <a:prstGeom prst="ellipse">
            <a:avLst/>
          </a:prstGeom>
          <a:solidFill>
            <a:srgbClr val="0B6EEA"/>
          </a:solidFill>
          <a:ln w="12700">
            <a:solidFill>
              <a:srgbClr val="0B6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750" y="6281928"/>
            <a:ext cx="50109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018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持续提升业务理解、沟通协作及问题闭环能力</a:t>
            </a:r>
            <a:endParaRPr lang="en-US" sz="1440" dirty="0"/>
          </a:p>
        </p:txBody>
      </p:sp>
      <p:sp>
        <p:nvSpPr>
          <p:cNvPr id="56" name="Text 54"/>
          <p:cNvSpPr/>
          <p:nvPr/>
        </p:nvSpPr>
        <p:spPr>
          <a:xfrm>
            <a:off x="411798" y="6711696"/>
            <a:ext cx="36576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9AA6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©2026 Agrose Technology Co., Ltd. All rights reserved.</a:t>
            </a:r>
            <a:endParaRPr lang="en-US" sz="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</p:spPr>
        <p:txBody>
          <a:bodyPr/>
          <a:lstStyle/>
          <a:p>
            <a:r>
              <a:rPr kumimoji="1" lang="zh-CN" altLang="en-US" dirty="0"/>
              <a:t>工作篇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910" y="384048"/>
            <a:ext cx="73152" cy="32004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9230" y="33832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2、工作经历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878" y="36576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9230" y="89611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第一阶段｜深圳分部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25230" y="1042416"/>
            <a:ext cx="228600" cy="0"/>
          </a:xfrm>
          <a:prstGeom prst="line">
            <a:avLst/>
          </a:prstGeom>
          <a:noFill/>
          <a:ln w="12700">
            <a:solidFill>
              <a:srgbClr val="CBD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9278" y="94183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58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夯实产品研发基础</a:t>
            </a:r>
            <a:endParaRPr lang="en-US" dirty="0">
              <a:solidFill>
                <a:srgbClr val="7583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0086" y="1335024"/>
            <a:ext cx="11201400" cy="713232"/>
          </a:xfrm>
          <a:prstGeom prst="roundRect">
            <a:avLst>
              <a:gd name="adj" fmla="val 10256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990" y="1481328"/>
            <a:ext cx="420624" cy="420624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134" y="1655064"/>
            <a:ext cx="128016" cy="128016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2150" y="1655064"/>
            <a:ext cx="73152" cy="64008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5302" y="1554480"/>
            <a:ext cx="155448" cy="164592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454" y="1554480"/>
            <a:ext cx="82296" cy="0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99223" y="1554480"/>
            <a:ext cx="3227705" cy="2952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ARS、ATS 及配套小工具研发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438" y="159105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研发能力覆盖多个软件及业务场景，已形成较为完整的产品研发能力。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086" y="2240280"/>
            <a:ext cx="342900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CFE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550" y="2441448"/>
            <a:ext cx="603504" cy="603504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422" y="2624328"/>
            <a:ext cx="365760" cy="109728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742" y="2656332"/>
            <a:ext cx="27432" cy="2743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422" y="2770632"/>
            <a:ext cx="365760" cy="109728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742" y="2802636"/>
            <a:ext cx="27432" cy="2743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27366" y="25146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45654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6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自动化研发系统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590" y="245973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3E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67830" y="3172968"/>
            <a:ext cx="2953512" cy="0"/>
          </a:xfrm>
          <a:prstGeom prst="line">
            <a:avLst/>
          </a:prstGeom>
          <a:noFill/>
          <a:ln w="12700">
            <a:solidFill>
              <a:srgbClr val="D7E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118" y="3429000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6158" y="33558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机台链路开发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6118" y="3730752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6158" y="3657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通用功能开发</a:t>
            </a:r>
            <a:endParaRPr lang="zh-CN" altLang="en-US" sz="1400" dirty="0">
              <a:solidFill>
                <a:srgbClr val="10162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86118" y="4032504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6158" y="395935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熟悉</a:t>
            </a:r>
            <a:r>
              <a:rPr lang="en-US" altLang="zh-CN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ARS</a:t>
            </a: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软件架构</a:t>
            </a:r>
            <a:endParaRPr lang="zh-CN" altLang="en-US" sz="1400" dirty="0">
              <a:solidFill>
                <a:srgbClr val="10162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39814" y="4325112"/>
            <a:ext cx="3209544" cy="384048"/>
          </a:xfrm>
          <a:prstGeom prst="roundRect">
            <a:avLst>
              <a:gd name="adj" fmla="val 14286"/>
            </a:avLst>
          </a:prstGeom>
          <a:solidFill>
            <a:srgbClr val="EFF7FF"/>
          </a:solidFill>
          <a:ln w="12700">
            <a:solidFill>
              <a:srgbClr val="EFF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814" y="4434840"/>
            <a:ext cx="320954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打好基础 · 熟悉业务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43718" y="2240280"/>
            <a:ext cx="342900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CFE2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7182" y="2441448"/>
            <a:ext cx="603504" cy="603504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910" y="2596896"/>
            <a:ext cx="384048" cy="246888"/>
          </a:xfrm>
          <a:prstGeom prst="roundRect">
            <a:avLst>
              <a:gd name="adj" fmla="val 9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638" y="2898648"/>
            <a:ext cx="164592" cy="0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28934" y="2843784"/>
            <a:ext cx="0" cy="54864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350" y="2688336"/>
            <a:ext cx="0" cy="91440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646" y="2715768"/>
            <a:ext cx="0" cy="64008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2942" y="2743200"/>
            <a:ext cx="0" cy="36576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0998" y="25146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ATS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459286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6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测试分析系统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33222" y="245973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3E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581462" y="3172968"/>
            <a:ext cx="2953512" cy="0"/>
          </a:xfrm>
          <a:prstGeom prst="line">
            <a:avLst/>
          </a:prstGeom>
          <a:noFill/>
          <a:ln w="12700">
            <a:solidFill>
              <a:srgbClr val="D7E6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99750" y="3429000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790" y="33558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得分图表开发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99750" y="3730752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790" y="3657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ATS-ARS 自动抽图工具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599750" y="4032504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790" y="395935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</a:t>
            </a:r>
            <a:r>
              <a:rPr lang="en-US" altLang="zh-CN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ATS</a:t>
            </a:r>
            <a:r>
              <a:rPr 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业务流程与技术实现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453446" y="4325112"/>
            <a:ext cx="3209544" cy="384048"/>
          </a:xfrm>
          <a:prstGeom prst="roundRect">
            <a:avLst>
              <a:gd name="adj" fmla="val 14286"/>
            </a:avLst>
          </a:prstGeom>
          <a:solidFill>
            <a:srgbClr val="EFF7FF"/>
          </a:solidFill>
          <a:ln w="12700">
            <a:solidFill>
              <a:srgbClr val="EFF7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53446" y="4434840"/>
            <a:ext cx="32095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能力提升 · </a:t>
            </a:r>
            <a:r>
              <a:rPr lang="zh-CN" altLang="en-US" sz="10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产品矩阵</a:t>
            </a:r>
            <a:endParaRPr lang="zh-CN" altLang="en-US" sz="1000" b="1" dirty="0">
              <a:solidFill>
                <a:srgbClr val="1268F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257350" y="2240280"/>
            <a:ext cx="342900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CFE2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40814" y="2441448"/>
            <a:ext cx="603504" cy="603504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14550" y="2633472"/>
            <a:ext cx="246888" cy="246888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860854" y="2542032"/>
            <a:ext cx="228600" cy="228600"/>
          </a:xfrm>
          <a:prstGeom prst="arc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59686" y="2843784"/>
            <a:ext cx="109728" cy="1097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54630" y="25146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中航项目</a:t>
            </a:r>
            <a:endParaRPr lang="zh-CN" altLang="en-US" sz="2200" b="1" dirty="0">
              <a:solidFill>
                <a:srgbClr val="1268F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372918" y="29352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1146854" y="245973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3E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8495094" y="3172968"/>
            <a:ext cx="2953512" cy="0"/>
          </a:xfrm>
          <a:prstGeom prst="line">
            <a:avLst/>
          </a:prstGeom>
          <a:noFill/>
          <a:ln w="12700">
            <a:solidFill>
              <a:srgbClr val="D7E6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13382" y="3429000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33422" y="33558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对接机台协议接口</a:t>
            </a:r>
            <a:endParaRPr lang="zh-CN" altLang="en-US" sz="1400" dirty="0">
              <a:solidFill>
                <a:srgbClr val="10162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513382" y="3730752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33422" y="36576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对接新增需求与新功能开发</a:t>
            </a:r>
            <a:endParaRPr lang="zh-CN" altLang="en-US" sz="1400" dirty="0">
              <a:solidFill>
                <a:srgbClr val="10162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513382" y="4032504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33422" y="395935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现场问题维护与答疑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8367078" y="4325112"/>
            <a:ext cx="3209544" cy="384048"/>
          </a:xfrm>
          <a:prstGeom prst="roundRect">
            <a:avLst>
              <a:gd name="adj" fmla="val 14286"/>
            </a:avLst>
          </a:prstGeom>
          <a:solidFill>
            <a:srgbClr val="EFF7FF"/>
          </a:solidFill>
          <a:ln w="12700">
            <a:solidFill>
              <a:srgbClr val="EFF7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67078" y="4434840"/>
            <a:ext cx="320954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支撑现场 · 推动闭环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977958" y="317296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4C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»</a:t>
            </a:r>
            <a:endParaRPr lang="en-US" sz="3400" dirty="0"/>
          </a:p>
        </p:txBody>
      </p:sp>
      <p:sp>
        <p:nvSpPr>
          <p:cNvPr id="76" name="Text 74"/>
          <p:cNvSpPr/>
          <p:nvPr/>
        </p:nvSpPr>
        <p:spPr>
          <a:xfrm>
            <a:off x="7882446" y="317296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4C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»</a:t>
            </a:r>
            <a:endParaRPr lang="en-US" sz="3400" dirty="0"/>
          </a:p>
        </p:txBody>
      </p:sp>
      <p:sp>
        <p:nvSpPr>
          <p:cNvPr id="77" name="Shape 75"/>
          <p:cNvSpPr/>
          <p:nvPr/>
        </p:nvSpPr>
        <p:spPr>
          <a:xfrm>
            <a:off x="430086" y="5010912"/>
            <a:ext cx="11201400" cy="1207008"/>
          </a:xfrm>
          <a:prstGeom prst="roundRect">
            <a:avLst>
              <a:gd name="adj" fmla="val 6061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7830" y="5266944"/>
            <a:ext cx="694944" cy="694944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7286" y="5486400"/>
            <a:ext cx="256032" cy="2286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6702" y="5522976"/>
            <a:ext cx="137160" cy="164592"/>
          </a:xfrm>
          <a:prstGeom prst="arc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06742" y="5522976"/>
            <a:ext cx="137160" cy="164592"/>
          </a:xfrm>
          <a:prstGeom prst="arc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5302" y="5715000"/>
            <a:ext cx="0" cy="109728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5574" y="5843016"/>
            <a:ext cx="219456" cy="0"/>
          </a:xfrm>
          <a:prstGeom prst="line">
            <a:avLst/>
          </a:prstGeom>
          <a:noFill/>
          <a:ln w="12700">
            <a:solidFill>
              <a:srgbClr val="1268F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1294" y="5532120"/>
            <a:ext cx="128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664526" y="5257800"/>
            <a:ext cx="0" cy="694944"/>
          </a:xfrm>
          <a:prstGeom prst="line">
            <a:avLst/>
          </a:prstGeom>
          <a:noFill/>
          <a:ln w="12700">
            <a:solidFill>
              <a:srgbClr val="CCDA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11998" y="53675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阶段能力沉淀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2011998" y="57150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DB8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124262" y="5257800"/>
            <a:ext cx="0" cy="749808"/>
          </a:xfrm>
          <a:prstGeom prst="line">
            <a:avLst/>
          </a:prstGeom>
          <a:noFill/>
          <a:ln w="12700">
            <a:solidFill>
              <a:srgbClr val="CCDAE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8038" y="5303520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19790" y="5239512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覆盖功能开发、项目支持、问题排查等多个研发场景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4618038" y="5586984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19790" y="5522976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能够根据不同业务场景完成功能开发与BUG修复</a:t>
            </a:r>
            <a:endParaRPr lang="en-US" sz="1250" dirty="0"/>
          </a:p>
        </p:txBody>
      </p:sp>
      <p:sp>
        <p:nvSpPr>
          <p:cNvPr id="93" name="Shape 91"/>
          <p:cNvSpPr/>
          <p:nvPr/>
        </p:nvSpPr>
        <p:spPr>
          <a:xfrm>
            <a:off x="4618038" y="5870448"/>
            <a:ext cx="91440" cy="91440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19790" y="5806440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6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为后续独立承接项目、推进项目闭环打下基础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411798" y="6473952"/>
            <a:ext cx="301752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9AA6B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©2026 Agrose Technology Co., Ltd. All rights reserved.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4670" y="6510528"/>
            <a:ext cx="329184" cy="0"/>
          </a:xfrm>
          <a:prstGeom prst="line">
            <a:avLst/>
          </a:prstGeom>
          <a:noFill/>
          <a:ln w="12700">
            <a:solidFill>
              <a:srgbClr val="B7C4D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77006" y="644652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AA6B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用技术创造更智能的工业未来</a:t>
            </a:r>
            <a:endParaRPr lang="en-US" sz="800" dirty="0"/>
          </a:p>
        </p:txBody>
      </p:sp>
      <p:sp>
        <p:nvSpPr>
          <p:cNvPr id="4" name="Text 7"/>
          <p:cNvSpPr/>
          <p:nvPr/>
        </p:nvSpPr>
        <p:spPr>
          <a:xfrm>
            <a:off x="11009694" y="38404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EA6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阿丘科技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11018838" y="603504"/>
            <a:ext cx="7498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EA6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Agrose Technology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3198" y="393192"/>
            <a:ext cx="64008" cy="329184"/>
          </a:xfrm>
          <a:prstGeom prst="rect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9230" y="32918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2、工作经历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48374" y="932688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71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  |  昆山分部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2789238" y="1060704"/>
            <a:ext cx="256032" cy="0"/>
          </a:xfrm>
          <a:prstGeom prst="line">
            <a:avLst/>
          </a:prstGeom>
          <a:noFill/>
          <a:ln w="12700">
            <a:solidFill>
              <a:srgbClr val="C7D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9278" y="9601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B8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独立承接项目</a:t>
            </a:r>
            <a:endParaRPr lang="en-US" dirty="0">
              <a:solidFill>
                <a:srgbClr val="7B849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478" y="384048"/>
            <a:ext cx="6400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009694" y="38404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EA6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阿丘科技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018838" y="603504"/>
            <a:ext cx="7498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EA6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Agrose Technology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430086" y="1399032"/>
            <a:ext cx="11329416" cy="749808"/>
          </a:xfrm>
          <a:prstGeom prst="roundRect">
            <a:avLst>
              <a:gd name="adj" fmla="val 14634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0126" y="155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6F2FF"/>
          </a:solidFill>
          <a:ln w="12700">
            <a:solidFill>
              <a:srgbClr val="E6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990" y="16184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↗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27366" y="1682496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来到昆山分部后，工作重心逐步转向</a:t>
            </a:r>
            <a:r>
              <a:rPr lang="en-US" sz="15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项ADC</a:t>
            </a:r>
            <a:r>
              <a:rPr lang="zh-CN" altLang="en-US" sz="15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</a:t>
            </a:r>
            <a:r>
              <a:rPr lang="en-US" sz="15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目承接与软件侧对接</a:t>
            </a:r>
            <a:r>
              <a:rPr lang="en-US" sz="155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，能够围绕客户需求开展协议确认、技术沟通、研发推进与项目闭环。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9230" y="2331720"/>
            <a:ext cx="3465576" cy="2679192"/>
          </a:xfrm>
          <a:prstGeom prst="roundRect">
            <a:avLst>
              <a:gd name="adj" fmla="val 3754"/>
            </a:avLst>
          </a:prstGeom>
          <a:solidFill>
            <a:srgbClr val="FEFFFF"/>
          </a:solidFill>
          <a:ln w="12700">
            <a:solidFill>
              <a:srgbClr val="C7DC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118" y="25511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6F2FF"/>
          </a:solidFill>
          <a:ln w="12700">
            <a:solidFill>
              <a:srgbClr val="E6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982" y="261518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798" y="2615184"/>
            <a:ext cx="18196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通富项目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554798" y="30449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10446" y="2532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BB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86118" y="3300984"/>
            <a:ext cx="2971800" cy="0"/>
          </a:xfrm>
          <a:prstGeom prst="line">
            <a:avLst/>
          </a:prstGeom>
          <a:noFill/>
          <a:ln w="12700">
            <a:solidFill>
              <a:srgbClr val="C8D8F0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550" y="3584448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734" y="3493008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独立完成与通富的协议对接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713550" y="3895344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734" y="3803904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ICOS 技术团队完成 gRPC 协议约定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13550" y="4206240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734" y="4114800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与客户对接功能需求并推动研发落地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548958" y="4498848"/>
            <a:ext cx="3246120" cy="393192"/>
          </a:xfrm>
          <a:prstGeom prst="roundRect">
            <a:avLst>
              <a:gd name="adj" fmla="val 18605"/>
            </a:avLst>
          </a:prstGeom>
          <a:solidFill>
            <a:srgbClr val="EDF6FF"/>
          </a:solidFill>
          <a:ln w="12700">
            <a:solidFill>
              <a:srgbClr val="EDF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150" y="459028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独立对接  ·  推进落地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77958" y="3300984"/>
            <a:ext cx="31089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DB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»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4371150" y="2331720"/>
            <a:ext cx="3465576" cy="2679192"/>
          </a:xfrm>
          <a:prstGeom prst="roundRect">
            <a:avLst>
              <a:gd name="adj" fmla="val 3754"/>
            </a:avLst>
          </a:prstGeom>
          <a:solidFill>
            <a:srgbClr val="FEFFFF"/>
          </a:solidFill>
          <a:ln w="12700">
            <a:solidFill>
              <a:srgbClr val="C7DC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8038" y="25511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6F2FF"/>
          </a:solidFill>
          <a:ln w="12700">
            <a:solidFill>
              <a:srgbClr val="E6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902" y="261518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▣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718" y="2615184"/>
            <a:ext cx="18196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芯上微装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5486718" y="30449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242366" y="2532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BB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618038" y="3300984"/>
            <a:ext cx="2971800" cy="0"/>
          </a:xfrm>
          <a:prstGeom prst="line">
            <a:avLst/>
          </a:prstGeom>
          <a:noFill/>
          <a:ln w="12700">
            <a:solidFill>
              <a:srgbClr val="C8D8F0">
                <a:alpha val="8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470" y="3584448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654" y="3493008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完成在线 API 协议约定</a:t>
            </a:r>
            <a:endParaRPr lang="en-US" sz="1520" dirty="0"/>
          </a:p>
        </p:txBody>
      </p:sp>
      <p:sp>
        <p:nvSpPr>
          <p:cNvPr id="40" name="Shape 38"/>
          <p:cNvSpPr/>
          <p:nvPr/>
        </p:nvSpPr>
        <p:spPr>
          <a:xfrm>
            <a:off x="4645470" y="3895344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654" y="3803904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沟通接口字段、数据交互与业务流程</a:t>
            </a:r>
            <a:endParaRPr lang="en-US" sz="1520" dirty="0"/>
          </a:p>
        </p:txBody>
      </p:sp>
      <p:sp>
        <p:nvSpPr>
          <p:cNvPr id="42" name="Shape 40"/>
          <p:cNvSpPr/>
          <p:nvPr/>
        </p:nvSpPr>
        <p:spPr>
          <a:xfrm>
            <a:off x="4645470" y="4206240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654" y="4114800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推动后续研发实施与机台对接</a:t>
            </a:r>
            <a:endParaRPr lang="en-US" sz="1520" dirty="0"/>
          </a:p>
        </p:txBody>
      </p:sp>
      <p:sp>
        <p:nvSpPr>
          <p:cNvPr id="44" name="Shape 42"/>
          <p:cNvSpPr/>
          <p:nvPr/>
        </p:nvSpPr>
        <p:spPr>
          <a:xfrm>
            <a:off x="4480878" y="4498848"/>
            <a:ext cx="3246120" cy="393192"/>
          </a:xfrm>
          <a:prstGeom prst="roundRect">
            <a:avLst>
              <a:gd name="adj" fmla="val 18605"/>
            </a:avLst>
          </a:prstGeom>
          <a:solidFill>
            <a:srgbClr val="EDF6FF"/>
          </a:solidFill>
          <a:ln w="12700">
            <a:solidFill>
              <a:srgbClr val="EDF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4070" y="459028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协议确认  ·  研发落地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928166" y="3300984"/>
            <a:ext cx="31089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DB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»</a:t>
            </a:r>
            <a:endParaRPr lang="en-US" sz="3200" dirty="0"/>
          </a:p>
        </p:txBody>
      </p:sp>
      <p:sp>
        <p:nvSpPr>
          <p:cNvPr id="47" name="Shape 45"/>
          <p:cNvSpPr/>
          <p:nvPr/>
        </p:nvSpPr>
        <p:spPr>
          <a:xfrm>
            <a:off x="8303070" y="2331720"/>
            <a:ext cx="3465576" cy="2679192"/>
          </a:xfrm>
          <a:prstGeom prst="roundRect">
            <a:avLst>
              <a:gd name="adj" fmla="val 3754"/>
            </a:avLst>
          </a:prstGeom>
          <a:solidFill>
            <a:srgbClr val="FEFFFF"/>
          </a:solidFill>
          <a:ln w="12700">
            <a:solidFill>
              <a:srgbClr val="C7DC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9958" y="25511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6F2FF"/>
          </a:solidFill>
          <a:ln w="12700">
            <a:solidFill>
              <a:srgbClr val="E6F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04822" y="261518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418638" y="2615184"/>
            <a:ext cx="18196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无锡英飞凌</a:t>
            </a:r>
            <a:endParaRPr lang="en-US" sz="2300" dirty="0"/>
          </a:p>
        </p:txBody>
      </p:sp>
      <p:sp>
        <p:nvSpPr>
          <p:cNvPr id="51" name="Text 49"/>
          <p:cNvSpPr/>
          <p:nvPr/>
        </p:nvSpPr>
        <p:spPr>
          <a:xfrm>
            <a:off x="9418638" y="30449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74286" y="2532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BB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8549958" y="3300984"/>
            <a:ext cx="2971800" cy="0"/>
          </a:xfrm>
          <a:prstGeom prst="line">
            <a:avLst/>
          </a:prstGeom>
          <a:noFill/>
          <a:ln w="12700">
            <a:solidFill>
              <a:srgbClr val="C8D8F0">
                <a:alpha val="8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77390" y="3584448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06574" y="3493008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参与通信协议线下会议</a:t>
            </a:r>
            <a:endParaRPr lang="en-US" sz="1520" dirty="0"/>
          </a:p>
        </p:txBody>
      </p:sp>
      <p:sp>
        <p:nvSpPr>
          <p:cNvPr id="56" name="Shape 54"/>
          <p:cNvSpPr/>
          <p:nvPr/>
        </p:nvSpPr>
        <p:spPr>
          <a:xfrm>
            <a:off x="8577390" y="3895344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06574" y="3803904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围绕通信方式与技术细节进行确认</a:t>
            </a:r>
            <a:endParaRPr lang="en-US" sz="1520" dirty="0"/>
          </a:p>
        </p:txBody>
      </p:sp>
      <p:sp>
        <p:nvSpPr>
          <p:cNvPr id="58" name="Shape 56"/>
          <p:cNvSpPr/>
          <p:nvPr/>
        </p:nvSpPr>
        <p:spPr>
          <a:xfrm>
            <a:off x="8577390" y="4206240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06574" y="4114800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支撑后续方案梳理与研发推进</a:t>
            </a:r>
            <a:endParaRPr lang="en-US" sz="1520" dirty="0"/>
          </a:p>
        </p:txBody>
      </p:sp>
      <p:sp>
        <p:nvSpPr>
          <p:cNvPr id="60" name="Shape 58"/>
          <p:cNvSpPr/>
          <p:nvPr/>
        </p:nvSpPr>
        <p:spPr>
          <a:xfrm>
            <a:off x="8412798" y="4498848"/>
            <a:ext cx="3246120" cy="393192"/>
          </a:xfrm>
          <a:prstGeom prst="roundRect">
            <a:avLst>
              <a:gd name="adj" fmla="val 18605"/>
            </a:avLst>
          </a:prstGeom>
          <a:solidFill>
            <a:srgbClr val="EDF6FF"/>
          </a:solidFill>
          <a:ln w="12700">
            <a:solidFill>
              <a:srgbClr val="EDF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05990" y="459028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前期沟通  ·  支撑方案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30086" y="5212080"/>
            <a:ext cx="11329416" cy="1252728"/>
          </a:xfrm>
          <a:prstGeom prst="roundRect">
            <a:avLst>
              <a:gd name="adj" fmla="val 875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702" y="54498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6F2FF"/>
          </a:solidFill>
          <a:ln w="12700">
            <a:solidFill>
              <a:srgbClr val="E6F2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566" y="55138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🏆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1673670" y="5449824"/>
            <a:ext cx="0" cy="749808"/>
          </a:xfrm>
          <a:prstGeom prst="line">
            <a:avLst/>
          </a:prstGeom>
          <a:noFill/>
          <a:ln w="12700">
            <a:solidFill>
              <a:srgbClr val="C8D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39430" y="5559552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67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阶段能力沉淀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2039430" y="591616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3AB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 TAKEAWAYS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4179126" y="5449824"/>
            <a:ext cx="0" cy="749808"/>
          </a:xfrm>
          <a:prstGeom prst="line">
            <a:avLst/>
          </a:prstGeom>
          <a:noFill/>
          <a:ln w="12700">
            <a:solidFill>
              <a:srgbClr val="C8D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09478" y="5550408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38662" y="5458968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具备从售前 / POC 技术沟通到研发实施、机台对接、上线交付及问题处理的项目支撑能力</a:t>
            </a:r>
            <a:endParaRPr lang="en-US" sz="1420" dirty="0"/>
          </a:p>
        </p:txBody>
      </p:sp>
      <p:sp>
        <p:nvSpPr>
          <p:cNvPr id="71" name="Shape 69"/>
          <p:cNvSpPr/>
          <p:nvPr/>
        </p:nvSpPr>
        <p:spPr>
          <a:xfrm>
            <a:off x="4709478" y="5843016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38662" y="5751576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能够围绕通信方式、接口协议、数据交互、业务流程和软件功能等内容直接与客户进行技术沟通</a:t>
            </a:r>
            <a:endParaRPr lang="en-US" sz="1420" dirty="0"/>
          </a:p>
        </p:txBody>
      </p:sp>
      <p:sp>
        <p:nvSpPr>
          <p:cNvPr id="73" name="Shape 71"/>
          <p:cNvSpPr/>
          <p:nvPr/>
        </p:nvSpPr>
        <p:spPr>
          <a:xfrm>
            <a:off x="4709478" y="6135624"/>
            <a:ext cx="91440" cy="91440"/>
          </a:xfrm>
          <a:prstGeom prst="ellipse">
            <a:avLst/>
          </a:prstGeom>
          <a:solidFill>
            <a:srgbClr val="0067F8"/>
          </a:solidFill>
          <a:ln w="12700">
            <a:solidFill>
              <a:srgbClr val="0067F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38662" y="6044184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21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能够将前期技术沟通结果转化为具体研发方案，推动项目及问题闭环</a:t>
            </a:r>
            <a:endParaRPr lang="en-US" sz="1420" dirty="0"/>
          </a:p>
        </p:txBody>
      </p:sp>
      <p:sp>
        <p:nvSpPr>
          <p:cNvPr id="75" name="Text 73"/>
          <p:cNvSpPr/>
          <p:nvPr/>
        </p:nvSpPr>
        <p:spPr>
          <a:xfrm>
            <a:off x="411798" y="6647688"/>
            <a:ext cx="292608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98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©2026 Agrose Technology Co., Ltd. All rights reserved.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9784398" y="6720840"/>
            <a:ext cx="320040" cy="0"/>
          </a:xfrm>
          <a:prstGeom prst="line">
            <a:avLst/>
          </a:prstGeom>
          <a:noFill/>
          <a:ln w="12700">
            <a:solidFill>
              <a:srgbClr val="B8C5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05022" y="664768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98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用技术创造更智能的工业未来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</p:spPr>
        <p:txBody>
          <a:bodyPr/>
          <a:lstStyle/>
          <a:p>
            <a:r>
              <a:rPr kumimoji="1" lang="zh-CN" altLang="en-US" dirty="0"/>
              <a:t>挑战与成长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910" y="356616"/>
            <a:ext cx="73152" cy="320040"/>
          </a:xfrm>
          <a:prstGeom prst="rect">
            <a:avLst/>
          </a:prstGeom>
          <a:solidFill>
            <a:srgbClr val="0969E8"/>
          </a:solidFill>
          <a:ln w="12700">
            <a:solidFill>
              <a:srgbClr val="0969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798" y="31089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3、工作挑战与成长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11798" y="877824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在多项目并行、需求优先级冲突和明确交付节点的高并发工作环境下，我逐步学会正视压力、主动学习，并将挑战转化为综合能力的成长。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287318" y="36576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99966" y="3108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D9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阿丘科技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18254" y="51206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D9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Agrose Technology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11798" y="1234440"/>
            <a:ext cx="5257800" cy="4617720"/>
          </a:xfrm>
          <a:prstGeom prst="roundRect">
            <a:avLst>
              <a:gd name="adj" fmla="val 990"/>
            </a:avLst>
          </a:prstGeom>
          <a:solidFill>
            <a:srgbClr val="FAFDFF"/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718" y="1234440"/>
            <a:ext cx="5166360" cy="4617720"/>
          </a:xfrm>
          <a:prstGeom prst="roundRect">
            <a:avLst>
              <a:gd name="adj" fmla="val 990"/>
            </a:avLst>
          </a:prstGeom>
          <a:solidFill>
            <a:srgbClr val="FAFDFF"/>
          </a:solidFill>
          <a:ln w="12700">
            <a:solidFill>
              <a:srgbClr val="CF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830" y="1335024"/>
            <a:ext cx="502920" cy="50292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830" y="1371600"/>
            <a:ext cx="502920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758" y="1426464"/>
            <a:ext cx="4343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遇到的问题：多任务高并发下的交付压力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12966" y="1892808"/>
            <a:ext cx="485546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过去一段时间，多个项目、需求和现场问题同时推进，不同对接方都具有较高优先级和明确 Deadline，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需要在较短时间内完成多方沟通、研发实施及问题处理。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85750" y="1335024"/>
            <a:ext cx="502920" cy="50292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750" y="1371600"/>
            <a:ext cx="502920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52678" y="1426464"/>
            <a:ext cx="42519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我的应对方式：在压力中持续学习与综合成长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830886" y="1892808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我不抗拒高并发压力，关键在于它是否能够带来新的知识、项目经验和能力提升。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只要能从问题中快速成长，我愿意主动承担挑战。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678" y="2651760"/>
            <a:ext cx="4892040" cy="969264"/>
          </a:xfrm>
          <a:prstGeom prst="roundRect">
            <a:avLst>
              <a:gd name="adj" fmla="val 6604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998" y="283464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998" y="2871216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9078" y="285292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任务并行，优先级冲突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36510" y="3163824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83398" y="3154680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多个项目/需求同时推进，每个对接方都认为优先级很高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36510" y="3465576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83398" y="3456432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需要在有限时间内完成研发、对接、测试和问题处理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678" y="3712464"/>
            <a:ext cx="4892040" cy="932688"/>
          </a:xfrm>
          <a:prstGeom prst="roundRect">
            <a:avLst>
              <a:gd name="adj" fmla="val 6863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998" y="3895344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998" y="3931920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⌞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09078" y="39136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交付质量出现波动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36510" y="4224528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783398" y="4215384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在持续高压状态下，时间和精力分配不够成熟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536510" y="4526280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783398" y="451713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曾出现交付质量下降的问题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678" y="4736592"/>
            <a:ext cx="4892040" cy="932688"/>
          </a:xfrm>
          <a:prstGeom prst="roundRect">
            <a:avLst>
              <a:gd name="adj" fmla="val 6863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998" y="4919472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998" y="4956048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509078" y="49377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心态一度失衡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36510" y="5248656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783398" y="5239512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面对连续的 deadline 和紧急问题，心理压力较大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536510" y="5550408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783398" y="5541264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对自身的情绪管理和抗压能力提出了更高要求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12598" y="2468880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86918" y="265176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918" y="2688336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◎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726998" y="267004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正确认识压力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754430" y="2980944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001318" y="2971800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不把高并发单纯看作负担，而是看作高强度的成长环境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54430" y="3282696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001318" y="3273552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只要任务能够带来新的经验和能力提升，我愿意接受更高强度的挑战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12598" y="3630168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86918" y="3813048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918" y="3849624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↗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726998" y="383133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AI时代下持续学习的必要性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754430" y="4142232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001318" y="4133088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时代技术与知识快速膨胀，个人必须始终保持学习与进步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54430" y="4443984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001318" y="4434840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相比回避压力，我更愿意在高要求任务中逼自己快速成长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12598" y="4791456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86918" y="4974336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86918" y="5010912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♢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726998" y="499262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追求综合性的成长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7754430" y="5303520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001318" y="5294376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成长不只体现在技术提升，也包括业务理解、沟通协同与项目推进能力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54430" y="5605272"/>
            <a:ext cx="155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8001318" y="5596128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我更看重将压力转化为综合能力的持续沉淀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08510" y="2788920"/>
            <a:ext cx="548640" cy="1828800"/>
          </a:xfrm>
          <a:prstGeom prst="rtTriangle">
            <a:avLst/>
          </a:prstGeom>
          <a:solidFill>
            <a:srgbClr val="CBE2FF">
              <a:alpha val="85000"/>
            </a:srgbClr>
          </a:solidFill>
          <a:ln w="12700">
            <a:solidFill>
              <a:srgbClr val="CBE2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79326" y="3273552"/>
            <a:ext cx="59436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面对压力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主动学习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能力沉淀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11798" y="5998464"/>
            <a:ext cx="1138428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7DB5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550" y="613562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🏆</a:t>
            </a:r>
            <a:endParaRPr lang="en-US" sz="2200" dirty="0"/>
          </a:p>
        </p:txBody>
      </p:sp>
      <p:sp>
        <p:nvSpPr>
          <p:cNvPr id="70" name="Shape 68"/>
          <p:cNvSpPr/>
          <p:nvPr/>
        </p:nvSpPr>
        <p:spPr>
          <a:xfrm>
            <a:off x="1390206" y="6089904"/>
            <a:ext cx="0" cy="475488"/>
          </a:xfrm>
          <a:prstGeom prst="line">
            <a:avLst/>
          </a:prstGeom>
          <a:noFill/>
          <a:ln w="12700">
            <a:solidFill>
              <a:srgbClr val="0969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678" y="6144768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96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我不抗拒高并发压力，因为我相信在 AI 时代，真正重要的是始终保持学习、进步与综合成长的状态。</a:t>
            </a:r>
            <a:endParaRPr lang="en-US" sz="1450" dirty="0"/>
          </a:p>
        </p:txBody>
      </p:sp>
      <p:sp>
        <p:nvSpPr>
          <p:cNvPr id="72" name="Text 70"/>
          <p:cNvSpPr/>
          <p:nvPr/>
        </p:nvSpPr>
        <p:spPr>
          <a:xfrm>
            <a:off x="1737678" y="6382512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7180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只要能够在问题中快速学习、积累经验并沉淀能力，压力就能成为推动自己成长的重要环境。</a:t>
            </a:r>
            <a:endParaRPr lang="en-US" sz="1070" dirty="0"/>
          </a:p>
        </p:txBody>
      </p:sp>
      <p:sp>
        <p:nvSpPr>
          <p:cNvPr id="73" name="Text 71"/>
          <p:cNvSpPr/>
          <p:nvPr/>
        </p:nvSpPr>
        <p:spPr>
          <a:xfrm>
            <a:off x="411798" y="6720840"/>
            <a:ext cx="30175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©2026 Agrose Technology Co., Ltd. All rights reserved.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0653078" y="6720840"/>
            <a:ext cx="100584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让制造更智能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</p:spPr>
        <p:txBody>
          <a:bodyPr/>
          <a:lstStyle/>
          <a:p>
            <a:r>
              <a:rPr kumimoji="1" lang="zh-CN" altLang="en-US" dirty="0"/>
              <a:t>未来规划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320040"/>
            <a:ext cx="73152" cy="347472"/>
          </a:xfrm>
          <a:prstGeom prst="rect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4、未来规划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0287000" y="31089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00232" y="292608"/>
            <a:ext cx="7315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F9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阿丘科技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09376" y="502920"/>
            <a:ext cx="7315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A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Agrose Technology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围绕能力升级、项目独立承接与更高维度发展，持续推动个人成长与价值提升。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" y="1225296"/>
            <a:ext cx="3639312" cy="3685032"/>
          </a:xfrm>
          <a:prstGeom prst="roundRect">
            <a:avLst>
              <a:gd name="adj" fmla="val 2513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FE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225296"/>
            <a:ext cx="3639312" cy="3685032"/>
          </a:xfrm>
          <a:prstGeom prst="roundRect">
            <a:avLst>
              <a:gd name="adj" fmla="val 2513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FE4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02752" y="1225296"/>
            <a:ext cx="3639312" cy="3685032"/>
          </a:xfrm>
          <a:prstGeom prst="roundRect">
            <a:avLst>
              <a:gd name="adj" fmla="val 2513"/>
            </a:avLst>
          </a:prstGeom>
          <a:solidFill>
            <a:srgbClr val="F7FBFF">
              <a:alpha val="92000"/>
            </a:srgbClr>
          </a:solidFill>
          <a:ln w="12700">
            <a:solidFill>
              <a:srgbClr val="CFE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4133088" y="2514600"/>
            <a:ext cx="256032" cy="475488"/>
          </a:xfrm>
          <a:prstGeom prst="triangle">
            <a:avLst/>
          </a:prstGeom>
          <a:solidFill>
            <a:srgbClr val="B8D9FF">
              <a:alpha val="85000"/>
            </a:srgbClr>
          </a:solidFill>
          <a:ln w="12700">
            <a:solidFill>
              <a:srgbClr val="B8D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8083296" y="2514600"/>
            <a:ext cx="256032" cy="475488"/>
          </a:xfrm>
          <a:prstGeom prst="triangle">
            <a:avLst/>
          </a:prstGeom>
          <a:solidFill>
            <a:srgbClr val="B8D9FF">
              <a:alpha val="85000"/>
            </a:srgbClr>
          </a:solidFill>
          <a:ln w="12700">
            <a:solidFill>
              <a:srgbClr val="B8D9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371600"/>
            <a:ext cx="731520" cy="731520"/>
          </a:xfrm>
          <a:prstGeom prst="ellipse">
            <a:avLst/>
          </a:prstGeom>
          <a:solidFill>
            <a:srgbClr val="D9EBFF">
              <a:alpha val="90000"/>
            </a:srgbClr>
          </a:solidFill>
          <a:ln w="12700">
            <a:solidFill>
              <a:srgbClr val="D9EB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1645920"/>
            <a:ext cx="73152" cy="182880"/>
          </a:xfrm>
          <a:prstGeom prst="rect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1545336"/>
            <a:ext cx="73152" cy="283464"/>
          </a:xfrm>
          <a:prstGeom prst="rect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1417320"/>
            <a:ext cx="73152" cy="411480"/>
          </a:xfrm>
          <a:prstGeom prst="rect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6184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2221992"/>
            <a:ext cx="3337560" cy="640080"/>
          </a:xfrm>
          <a:prstGeom prst="roundRect">
            <a:avLst>
              <a:gd name="adj" fmla="val 11429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提升架构思维与整体方案输出能力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" y="3099816"/>
            <a:ext cx="3108960" cy="9601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从功能实现进一步走向系统性思考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提升需求分析、方案设计与项目拆解能力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目标：能够更独立地对接和推进整个项目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3337560" cy="475488"/>
          </a:xfrm>
          <a:prstGeom prst="roundRect">
            <a:avLst>
              <a:gd name="adj" fmla="val 15385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98264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补齐短板  ·  能力升级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53712" y="1371600"/>
            <a:ext cx="731520" cy="731520"/>
          </a:xfrm>
          <a:prstGeom prst="ellipse">
            <a:avLst/>
          </a:prstGeom>
          <a:solidFill>
            <a:srgbClr val="D9EBFF">
              <a:alpha val="90000"/>
            </a:srgbClr>
          </a:solidFill>
          <a:ln w="12700">
            <a:solidFill>
              <a:srgbClr val="D9E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499616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▰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4727448" y="1627632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▰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4727448" y="1755648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▰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5468112" y="161848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后续规划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507992" y="2221992"/>
            <a:ext cx="3337560" cy="640080"/>
          </a:xfrm>
          <a:prstGeom prst="roundRect">
            <a:avLst>
              <a:gd name="adj" fmla="val 11429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2322576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逐步形成属于自己的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技术矩阵与业务矩阵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3099816"/>
            <a:ext cx="3108960" cy="9601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持续拓展个人能力边界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让技术能力与业务理解相互支撑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形成更稳定的综合能力体系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4507992" y="4297680"/>
            <a:ext cx="3337560" cy="475488"/>
          </a:xfrm>
          <a:prstGeom prst="roundRect">
            <a:avLst>
              <a:gd name="adj" fmla="val 15385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4398264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能力体系  ·  持续拓展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513064" y="1371600"/>
            <a:ext cx="731520" cy="731520"/>
          </a:xfrm>
          <a:prstGeom prst="ellipse">
            <a:avLst/>
          </a:prstGeom>
          <a:solidFill>
            <a:srgbClr val="D9EBFF">
              <a:alpha val="90000"/>
            </a:srgbClr>
          </a:solidFill>
          <a:ln w="12700">
            <a:solidFill>
              <a:srgbClr val="D9E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5944" y="1810512"/>
            <a:ext cx="502920" cy="274320"/>
          </a:xfrm>
          <a:prstGeom prst="triangle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1554480"/>
            <a:ext cx="0" cy="329184"/>
          </a:xfrm>
          <a:prstGeom prst="line">
            <a:avLst/>
          </a:prstGeom>
          <a:noFill/>
          <a:ln w="25400">
            <a:solidFill>
              <a:srgbClr val="0965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78824" y="1554480"/>
            <a:ext cx="192024" cy="118872"/>
          </a:xfrm>
          <a:prstGeom prst="rect">
            <a:avLst/>
          </a:prstGeom>
          <a:solidFill>
            <a:srgbClr val="0965F2"/>
          </a:solidFill>
          <a:ln w="12700">
            <a:solidFill>
              <a:srgbClr val="0965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0" y="161848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长期方向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8458200" y="2221992"/>
            <a:ext cx="3337560" cy="640080"/>
          </a:xfrm>
          <a:prstGeom prst="roundRect">
            <a:avLst>
              <a:gd name="adj" fmla="val 11429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2322576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向更高维度的方向发展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31352" y="3072384"/>
            <a:ext cx="3136392" cy="1097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从执行者逐步成长为能够整合问题
与方案的人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更关注项目整体价值与落地效果
</a:t>
            </a:r>
            <a:r>
              <a:rPr lang="en-US" sz="142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42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不断提升综合判断与全局思考能力</a:t>
            </a:r>
            <a:endParaRPr lang="en-US" sz="1420" dirty="0"/>
          </a:p>
        </p:txBody>
      </p:sp>
      <p:sp>
        <p:nvSpPr>
          <p:cNvPr id="41" name="Shape 39"/>
          <p:cNvSpPr/>
          <p:nvPr/>
        </p:nvSpPr>
        <p:spPr>
          <a:xfrm>
            <a:off x="8458200" y="4297680"/>
            <a:ext cx="3337560" cy="475488"/>
          </a:xfrm>
          <a:prstGeom prst="roundRect">
            <a:avLst>
              <a:gd name="adj" fmla="val 15385"/>
            </a:avLst>
          </a:prstGeom>
          <a:solidFill>
            <a:srgbClr val="E9F4FF">
              <a:alpha val="9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4398264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更高维度  ·  综合成长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93192" y="5074920"/>
            <a:ext cx="11402568" cy="1188720"/>
          </a:xfrm>
          <a:prstGeom prst="roundRect">
            <a:avLst>
              <a:gd name="adj" fmla="val 6154"/>
            </a:avLst>
          </a:prstGeom>
          <a:solidFill>
            <a:srgbClr val="F8FCFF">
              <a:alpha val="95000"/>
            </a:srgbClr>
          </a:solidFill>
          <a:ln w="12700">
            <a:solidFill>
              <a:srgbClr val="7DBB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5349240"/>
            <a:ext cx="585216" cy="585216"/>
          </a:xfrm>
          <a:prstGeom prst="ellipse">
            <a:avLst/>
          </a:prstGeom>
          <a:solidFill>
            <a:srgbClr val="D9EBFF">
              <a:alpha val="90000"/>
            </a:srgbClr>
          </a:solidFill>
          <a:ln w="12700">
            <a:solidFill>
              <a:srgbClr val="D9EB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" y="5394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🏆</a:t>
            </a:r>
            <a:endParaRPr lang="en-US" sz="2900" dirty="0"/>
          </a:p>
        </p:txBody>
      </p:sp>
      <p:sp>
        <p:nvSpPr>
          <p:cNvPr id="46" name="Shape 44"/>
          <p:cNvSpPr/>
          <p:nvPr/>
        </p:nvSpPr>
        <p:spPr>
          <a:xfrm>
            <a:off x="1572768" y="5285232"/>
            <a:ext cx="0" cy="749808"/>
          </a:xfrm>
          <a:prstGeom prst="line">
            <a:avLst/>
          </a:prstGeom>
          <a:noFill/>
          <a:ln w="19050">
            <a:solidFill>
              <a:srgbClr val="0965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01952" y="5266944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965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规划总结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901952" y="566928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25000"/>
          </a:bodyPr>
          <a:lstStyle/>
          <a:p>
            <a:pPr marL="0" indent="0">
              <a:buNone/>
            </a:pPr>
            <a:r>
              <a:rPr 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未来我</a:t>
            </a:r>
            <a:r>
              <a:rPr lang="zh-CN" alt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</a:t>
            </a:r>
            <a:r>
              <a:rPr 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持续提升架构思维、整体方案输出能力与项目独立承接能力</a:t>
            </a:r>
            <a:r>
              <a:rPr lang="zh-CN" alt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，先成为局部领域的佼佼者</a:t>
            </a:r>
            <a:r>
              <a:rPr 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zh-CN" alt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然后</a:t>
            </a:r>
            <a:r>
              <a:rPr lang="en-US" sz="560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实践中逐步构建自己的能力体系</a:t>
            </a:r>
            <a:r>
              <a:rPr lang="en-US" sz="1450" dirty="0">
                <a:solidFill>
                  <a:srgbClr val="2430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1901952" y="5870448"/>
            <a:ext cx="7498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91440" y="6382512"/>
            <a:ext cx="5120640" cy="365760"/>
          </a:xfrm>
          <a:prstGeom prst="arc">
            <a:avLst/>
          </a:prstGeom>
          <a:noFill/>
          <a:ln w="25400">
            <a:solidFill>
              <a:srgbClr val="D5E9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6327648"/>
            <a:ext cx="6035040" cy="411480"/>
          </a:xfrm>
          <a:prstGeom prst="arc">
            <a:avLst/>
          </a:prstGeom>
          <a:noFill/>
          <a:ln w="25400">
            <a:solidFill>
              <a:srgbClr val="D5E9FF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583680"/>
            <a:ext cx="310896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C99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©2026 Agrose Technology Co., Ltd. All rights reserved.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378440" y="6583680"/>
            <a:ext cx="123444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C99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AI 让制造更智能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224463"/>
            <a:ext cx="9144000" cy="654468"/>
          </a:xfrm>
        </p:spPr>
        <p:txBody>
          <a:bodyPr/>
          <a:lstStyle/>
          <a:p>
            <a:r>
              <a:rPr kumimoji="1" lang="en-US" altLang="zh-CN" dirty="0"/>
              <a:t>AI</a:t>
            </a:r>
            <a:r>
              <a:rPr kumimoji="1" dirty="0"/>
              <a:t>与我</a:t>
            </a:r>
            <a:endParaRPr kumimoji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72700" y="289560"/>
            <a:ext cx="647700" cy="259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endParaRPr lang="en-US" sz="2335" dirty="0"/>
          </a:p>
        </p:txBody>
      </p:sp>
      <p:sp>
        <p:nvSpPr>
          <p:cNvPr id="3" name="Shape 1"/>
          <p:cNvSpPr/>
          <p:nvPr/>
        </p:nvSpPr>
        <p:spPr>
          <a:xfrm>
            <a:off x="10172700" y="518160"/>
            <a:ext cx="594360" cy="0"/>
          </a:xfrm>
          <a:prstGeom prst="line">
            <a:avLst/>
          </a:prstGeom>
          <a:noFill/>
          <a:ln w="15240">
            <a:solidFill>
              <a:srgbClr val="9AA3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35640" y="28194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5" b="1" dirty="0">
                <a:solidFill>
                  <a:srgbClr val="9AA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阿丘科技</a:t>
            </a:r>
            <a:endParaRPr lang="en-US" sz="1165" dirty="0"/>
          </a:p>
        </p:txBody>
      </p:sp>
      <p:sp>
        <p:nvSpPr>
          <p:cNvPr id="5" name="Text 3"/>
          <p:cNvSpPr/>
          <p:nvPr/>
        </p:nvSpPr>
        <p:spPr>
          <a:xfrm>
            <a:off x="10835640" y="449580"/>
            <a:ext cx="838200" cy="121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9AA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Agrose Technology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419100" y="6553200"/>
            <a:ext cx="2895600" cy="114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8EA0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©2026 Agrose Technology Co., Ltd. All rights reserved.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10477500" y="6553200"/>
            <a:ext cx="1066800" cy="114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dirty="0">
                <a:solidFill>
                  <a:srgbClr val="8EA0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 AI  让制造更智能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-381000" y="6096000"/>
            <a:ext cx="4495800" cy="1066800"/>
          </a:xfrm>
          <a:prstGeom prst="arc">
            <a:avLst/>
          </a:prstGeom>
          <a:noFill/>
          <a:ln w="330200">
            <a:solidFill>
              <a:srgbClr val="D9EBFF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6134100"/>
            <a:ext cx="4343400" cy="838200"/>
          </a:xfrm>
          <a:prstGeom prst="arc">
            <a:avLst/>
          </a:prstGeom>
          <a:noFill/>
          <a:ln w="279400">
            <a:solidFill>
              <a:srgbClr val="D2E9FF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7000" y="6134100"/>
            <a:ext cx="4572000" cy="914400"/>
          </a:xfrm>
          <a:prstGeom prst="arc">
            <a:avLst/>
          </a:prstGeom>
          <a:noFill/>
          <a:ln w="304800">
            <a:solidFill>
              <a:srgbClr val="C9E4FF">
                <a:alpha val="7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9000" y="4991100"/>
            <a:ext cx="1143000" cy="1600200"/>
          </a:xfrm>
          <a:prstGeom prst="arc">
            <a:avLst/>
          </a:prstGeom>
          <a:noFill/>
          <a:ln w="114300">
            <a:solidFill>
              <a:srgbClr val="E2F1FF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63400" y="4648200"/>
            <a:ext cx="0" cy="1127760"/>
          </a:xfrm>
          <a:prstGeom prst="line">
            <a:avLst/>
          </a:prstGeom>
          <a:noFill/>
          <a:ln w="50800">
            <a:solidFill>
              <a:srgbClr val="E2F1FF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320040"/>
            <a:ext cx="60960" cy="32004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" y="228600"/>
            <a:ext cx="4038600" cy="419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5、</a:t>
            </a:r>
            <a:r>
              <a:rPr lang="en-US" altLang="zh-CN" sz="250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r>
              <a:rPr lang="zh-CN" altLang="en-US" sz="250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与我</a:t>
            </a:r>
            <a:endParaRPr lang="zh-CN" altLang="en-US" sz="2500" b="1" dirty="0">
              <a:solidFill>
                <a:srgbClr val="1264E8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6240" y="1158240"/>
            <a:ext cx="11391900" cy="1432560"/>
          </a:xfrm>
          <a:prstGeom prst="roundRect">
            <a:avLst>
              <a:gd name="adj" fmla="val 4787"/>
            </a:avLst>
          </a:prstGeom>
          <a:solidFill>
            <a:srgbClr val="FFFFFF">
              <a:alpha val="94000"/>
            </a:srgbClr>
          </a:solidFill>
          <a:ln w="11430">
            <a:solidFill>
              <a:srgbClr val="A2CFFF">
                <a:alpha val="95000"/>
              </a:srgbClr>
            </a:solidFill>
            <a:prstDash val="solid"/>
          </a:ln>
          <a:effectLst>
            <a:outerShdw blurRad="25400" dist="50800" dir="2700000" algn="bl" rotWithShape="0">
              <a:srgbClr val="DDEBF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39240" y="1447800"/>
            <a:ext cx="838200" cy="838200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7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5460" y="1722120"/>
            <a:ext cx="365760" cy="259080"/>
          </a:xfrm>
          <a:prstGeom prst="roundRect">
            <a:avLst>
              <a:gd name="adj" fmla="val 8824"/>
            </a:avLst>
          </a:prstGeom>
          <a:solidFill>
            <a:srgbClr val="FFFFFF">
              <a:alpha val="80000"/>
            </a:srgbClr>
          </a:solidFill>
          <a:ln w="27940">
            <a:solidFill>
              <a:srgbClr val="126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22120" y="1996440"/>
            <a:ext cx="472440" cy="91440"/>
          </a:xfrm>
          <a:prstGeom prst="trapezoid">
            <a:avLst/>
          </a:prstGeom>
          <a:solidFill>
            <a:srgbClr val="1264E8">
              <a:alpha val="96000"/>
            </a:srgbClr>
          </a:solidFill>
          <a:ln w="10160">
            <a:solidFill>
              <a:srgbClr val="126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59280" y="1851660"/>
            <a:ext cx="198120" cy="1524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1470660"/>
            <a:ext cx="0" cy="822960"/>
          </a:xfrm>
          <a:prstGeom prst="line">
            <a:avLst/>
          </a:prstGeom>
          <a:noFill/>
          <a:ln w="15240">
            <a:solidFill>
              <a:srgbClr val="9CC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676400"/>
            <a:ext cx="6705600" cy="419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35" dirty="0">
                <a:solidFill>
                  <a:srgbClr val="323A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代码之外，我也一直</a:t>
            </a:r>
            <a:r>
              <a:rPr lang="zh-CN" altLang="en-US" sz="1835" dirty="0">
                <a:solidFill>
                  <a:srgbClr val="323A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</a:t>
            </a:r>
            <a:r>
              <a:rPr lang="en-US" sz="1835" dirty="0">
                <a:solidFill>
                  <a:srgbClr val="323A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 AI 在更多领域的使用。</a:t>
            </a:r>
            <a:endParaRPr lang="en-US" sz="1835" dirty="0"/>
          </a:p>
        </p:txBody>
      </p:sp>
      <p:sp>
        <p:nvSpPr>
          <p:cNvPr id="22" name="Shape 20"/>
          <p:cNvSpPr/>
          <p:nvPr/>
        </p:nvSpPr>
        <p:spPr>
          <a:xfrm>
            <a:off x="396240" y="2857500"/>
            <a:ext cx="11391900" cy="3086100"/>
          </a:xfrm>
          <a:prstGeom prst="roundRect">
            <a:avLst>
              <a:gd name="adj" fmla="val 2222"/>
            </a:avLst>
          </a:prstGeom>
          <a:solidFill>
            <a:srgbClr val="FFFFFF">
              <a:alpha val="94000"/>
            </a:srgbClr>
          </a:solidFill>
          <a:ln w="11430">
            <a:solidFill>
              <a:srgbClr val="75AFFF">
                <a:alpha val="95000"/>
              </a:srgbClr>
            </a:solidFill>
            <a:prstDash val="solid"/>
          </a:ln>
          <a:effectLst>
            <a:outerShdw blurRad="25400" dist="50800" dir="2700000" algn="bl" rotWithShape="0">
              <a:srgbClr val="DDEBF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99210" y="3589020"/>
            <a:ext cx="1190625" cy="952500"/>
          </a:xfrm>
          <a:prstGeom prst="arc">
            <a:avLst/>
          </a:prstGeom>
          <a:noFill/>
          <a:ln w="152400">
            <a:solidFill>
              <a:srgbClr val="CBE3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3485" y="4636770"/>
            <a:ext cx="1485900" cy="838200"/>
          </a:xfrm>
          <a:prstGeom prst="trapezoid">
            <a:avLst/>
          </a:prstGeom>
          <a:solidFill>
            <a:srgbClr val="3C8EFF">
              <a:alpha val="94000"/>
            </a:srgbClr>
          </a:solidFill>
          <a:ln w="12700">
            <a:solidFill>
              <a:srgbClr val="3C8EFF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035" y="4408170"/>
            <a:ext cx="952500" cy="361950"/>
          </a:xfrm>
          <a:prstGeom prst="trapezoid">
            <a:avLst/>
          </a:prstGeom>
          <a:solidFill>
            <a:srgbClr val="8FC6FF"/>
          </a:solidFill>
          <a:ln w="12700">
            <a:solidFill>
              <a:srgbClr val="8FC6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927860" y="4408170"/>
            <a:ext cx="952500" cy="361950"/>
          </a:xfrm>
          <a:prstGeom prst="trapezoid">
            <a:avLst/>
          </a:prstGeom>
          <a:solidFill>
            <a:srgbClr val="57A5FF"/>
          </a:solidFill>
          <a:ln w="12700">
            <a:solidFill>
              <a:srgbClr val="57A5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94460" y="4189095"/>
            <a:ext cx="1076325" cy="523875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AE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5435" y="4274820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312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3125" dirty="0"/>
          </a:p>
        </p:txBody>
      </p:sp>
      <p:sp>
        <p:nvSpPr>
          <p:cNvPr id="29" name="Shape 27"/>
          <p:cNvSpPr/>
          <p:nvPr/>
        </p:nvSpPr>
        <p:spPr>
          <a:xfrm>
            <a:off x="1213485" y="3808095"/>
            <a:ext cx="190500" cy="219075"/>
          </a:xfrm>
          <a:prstGeom prst="line">
            <a:avLst/>
          </a:prstGeom>
          <a:noFill/>
          <a:ln w="38100">
            <a:solidFill>
              <a:srgbClr val="1A7CF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461260" y="3684270"/>
            <a:ext cx="171450" cy="266700"/>
          </a:xfrm>
          <a:prstGeom prst="line">
            <a:avLst/>
          </a:prstGeom>
          <a:noFill/>
          <a:ln w="38100">
            <a:solidFill>
              <a:srgbClr val="1A7C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61285" y="4046220"/>
            <a:ext cx="228600" cy="142875"/>
          </a:xfrm>
          <a:prstGeom prst="line">
            <a:avLst/>
          </a:prstGeom>
          <a:noFill/>
          <a:ln w="38100">
            <a:solidFill>
              <a:srgbClr val="1A7C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43300" y="3429000"/>
            <a:ext cx="0" cy="2095500"/>
          </a:xfrm>
          <a:prstGeom prst="line">
            <a:avLst/>
          </a:prstGeom>
          <a:noFill/>
          <a:ln w="19050">
            <a:solidFill>
              <a:srgbClr val="8AB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71856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本次转正述职 PPT，</a:t>
            </a:r>
            <a:endParaRPr lang="en-US" sz="2750" dirty="0"/>
          </a:p>
          <a:p>
            <a:pPr marL="0" indent="0" algn="l">
              <a:buNone/>
            </a:pPr>
            <a:r>
              <a:rPr lang="en-US" sz="275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就是一次 AI 应用实例分享。</a:t>
            </a:r>
            <a:endParaRPr lang="en-US" sz="2750" dirty="0"/>
          </a:p>
        </p:txBody>
      </p:sp>
      <p:sp>
        <p:nvSpPr>
          <p:cNvPr id="34" name="Text 32"/>
          <p:cNvSpPr/>
          <p:nvPr/>
        </p:nvSpPr>
        <p:spPr>
          <a:xfrm>
            <a:off x="4023360" y="5052060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665" dirty="0"/>
          </a:p>
        </p:txBody>
      </p:sp>
      <p:sp>
        <p:nvSpPr>
          <p:cNvPr id="35" name="Shape 33"/>
          <p:cNvSpPr/>
          <p:nvPr/>
        </p:nvSpPr>
        <p:spPr>
          <a:xfrm>
            <a:off x="11925300" y="4358640"/>
            <a:ext cx="38100" cy="102870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93880" y="4206240"/>
            <a:ext cx="60960" cy="118110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70080" y="4495800"/>
            <a:ext cx="45720" cy="89154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0320" y="274320"/>
            <a:ext cx="609600" cy="259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endParaRPr lang="en-US" sz="2335" dirty="0"/>
          </a:p>
        </p:txBody>
      </p:sp>
      <p:sp>
        <p:nvSpPr>
          <p:cNvPr id="4" name="Text 2"/>
          <p:cNvSpPr/>
          <p:nvPr/>
        </p:nvSpPr>
        <p:spPr>
          <a:xfrm>
            <a:off x="10835640" y="266700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5" b="1" dirty="0">
                <a:solidFill>
                  <a:srgbClr val="9AA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阿丘科技</a:t>
            </a:r>
            <a:endParaRPr lang="en-US" sz="1165" dirty="0"/>
          </a:p>
        </p:txBody>
      </p:sp>
      <p:sp>
        <p:nvSpPr>
          <p:cNvPr id="5" name="Text 3"/>
          <p:cNvSpPr/>
          <p:nvPr/>
        </p:nvSpPr>
        <p:spPr>
          <a:xfrm>
            <a:off x="10835640" y="441960"/>
            <a:ext cx="876300" cy="121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9AA3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Agrose Technology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419100" y="6537960"/>
            <a:ext cx="29718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8EA0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©2026 Agrose Technology Co., Ltd. All rights reserved.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9258300" y="6606540"/>
            <a:ext cx="350520" cy="0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6537960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5" dirty="0">
                <a:solidFill>
                  <a:srgbClr val="8EA0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 技 术 创 造 更 美 好 的 未 来</a:t>
            </a:r>
            <a:endParaRPr lang="en-US" sz="685" dirty="0"/>
          </a:p>
        </p:txBody>
      </p:sp>
      <p:sp>
        <p:nvSpPr>
          <p:cNvPr id="9" name="Shape 7"/>
          <p:cNvSpPr/>
          <p:nvPr/>
        </p:nvSpPr>
        <p:spPr>
          <a:xfrm>
            <a:off x="11551920" y="6606540"/>
            <a:ext cx="259080" cy="0"/>
          </a:xfrm>
          <a:prstGeom prst="line">
            <a:avLst/>
          </a:prstGeom>
          <a:noFill/>
          <a:ln w="12700">
            <a:solidFill>
              <a:srgbClr val="AAB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5958840"/>
            <a:ext cx="4876800" cy="952500"/>
          </a:xfrm>
          <a:prstGeom prst="arc">
            <a:avLst/>
          </a:prstGeom>
          <a:noFill/>
          <a:ln w="292100">
            <a:solidFill>
              <a:srgbClr val="D9EBFF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6050280"/>
            <a:ext cx="4419600" cy="838200"/>
          </a:xfrm>
          <a:prstGeom prst="arc">
            <a:avLst/>
          </a:prstGeom>
          <a:noFill/>
          <a:ln w="279400">
            <a:solidFill>
              <a:srgbClr val="CFE7FF">
                <a:alpha val="7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5882640"/>
            <a:ext cx="4114800" cy="1066800"/>
          </a:xfrm>
          <a:prstGeom prst="arc">
            <a:avLst/>
          </a:prstGeom>
          <a:noFill/>
          <a:ln w="317500">
            <a:solidFill>
              <a:srgbClr val="C8E2FF">
                <a:alpha val="7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71960" y="4343400"/>
            <a:ext cx="38100" cy="108204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55780" y="4023360"/>
            <a:ext cx="53340" cy="140208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39600" y="4457700"/>
            <a:ext cx="38100" cy="967740"/>
          </a:xfrm>
          <a:prstGeom prst="rect">
            <a:avLst/>
          </a:prstGeom>
          <a:solidFill>
            <a:srgbClr val="DBEEFF">
              <a:alpha val="80000"/>
            </a:srgbClr>
          </a:solidFill>
          <a:ln w="12700">
            <a:solidFill>
              <a:srgbClr val="DBEE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5260" y="640080"/>
            <a:ext cx="60960" cy="31242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100" y="533400"/>
            <a:ext cx="3657600" cy="487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6、特别鸣谢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495300" y="1767946"/>
            <a:ext cx="11315700" cy="4838700"/>
          </a:xfrm>
          <a:prstGeom prst="roundRect">
            <a:avLst>
              <a:gd name="adj" fmla="val 1260"/>
            </a:avLst>
          </a:prstGeom>
          <a:solidFill>
            <a:srgbClr val="F6FBFF">
              <a:alpha val="96000"/>
            </a:srgbClr>
          </a:solidFill>
          <a:ln w="11430">
            <a:solidFill>
              <a:srgbClr val="D0E5FF">
                <a:alpha val="84000"/>
              </a:srgbClr>
            </a:solidFill>
            <a:prstDash val="solid"/>
          </a:ln>
          <a:effectLst>
            <a:outerShdw blurRad="25400" dist="50800" dir="2700000" algn="bl" rotWithShape="0">
              <a:srgbClr val="DDEBF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180" y="1493520"/>
            <a:ext cx="60960" cy="32004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402080"/>
            <a:ext cx="2209800" cy="441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1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感谢与致意</a:t>
            </a:r>
            <a:endParaRPr lang="en-US" sz="2415" dirty="0"/>
          </a:p>
        </p:txBody>
      </p:sp>
      <p:sp>
        <p:nvSpPr>
          <p:cNvPr id="21" name="Shape 19"/>
          <p:cNvSpPr/>
          <p:nvPr/>
        </p:nvSpPr>
        <p:spPr>
          <a:xfrm>
            <a:off x="685800" y="2910840"/>
            <a:ext cx="10553700" cy="0"/>
          </a:xfrm>
          <a:prstGeom prst="line">
            <a:avLst/>
          </a:prstGeom>
          <a:noFill/>
          <a:ln w="10160">
            <a:solidFill>
              <a:srgbClr val="B6C6DA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62400"/>
            <a:ext cx="10553700" cy="0"/>
          </a:xfrm>
          <a:prstGeom prst="line">
            <a:avLst/>
          </a:prstGeom>
          <a:noFill/>
          <a:ln w="10160">
            <a:solidFill>
              <a:srgbClr val="B6C6DA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6300" y="2011680"/>
            <a:ext cx="762000" cy="762000"/>
          </a:xfrm>
          <a:prstGeom prst="ellipse">
            <a:avLst/>
          </a:prstGeom>
          <a:solidFill>
            <a:srgbClr val="E5F2FF"/>
          </a:solidFill>
          <a:ln w="12700">
            <a:solidFill>
              <a:srgbClr val="E5F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5860" y="2225040"/>
            <a:ext cx="182880" cy="18288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26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2040" y="2377440"/>
            <a:ext cx="350520" cy="297180"/>
          </a:xfrm>
          <a:prstGeom prst="arc">
            <a:avLst/>
          </a:prstGeom>
          <a:noFill/>
          <a:ln w="25400">
            <a:solidFill>
              <a:srgbClr val="126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4540" y="2004060"/>
            <a:ext cx="2286000" cy="259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 HR 宫婉莹</a:t>
            </a:r>
            <a:endParaRPr lang="en-US" sz="1665" dirty="0"/>
          </a:p>
        </p:txBody>
      </p:sp>
      <p:sp>
        <p:nvSpPr>
          <p:cNvPr id="27" name="Text 25"/>
          <p:cNvSpPr/>
          <p:nvPr/>
        </p:nvSpPr>
        <p:spPr>
          <a:xfrm>
            <a:off x="2034540" y="2354580"/>
            <a:ext cx="7467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特别感谢 HR 宫婉莹</a:t>
            </a:r>
            <a:r>
              <a:rPr lang="zh-CN" altLang="en-US" sz="1500" dirty="0">
                <a:solidFill>
                  <a:srgbClr val="1720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的伯乐之恩，给予我加入阿丘并不断成长的机会与认可</a:t>
            </a:r>
            <a:r>
              <a:rPr lang="en-US" sz="1500" dirty="0">
                <a:solidFill>
                  <a:srgbClr val="1720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6300" y="3063240"/>
            <a:ext cx="762000" cy="762000"/>
          </a:xfrm>
          <a:prstGeom prst="ellipse">
            <a:avLst/>
          </a:prstGeom>
          <a:solidFill>
            <a:srgbClr val="E5F2FF"/>
          </a:solidFill>
          <a:ln w="12700">
            <a:solidFill>
              <a:srgbClr val="E5F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4900" y="3307080"/>
            <a:ext cx="152400" cy="152400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126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3307080"/>
            <a:ext cx="152400" cy="152400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126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3200400"/>
            <a:ext cx="167640" cy="167640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126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320" y="3467100"/>
            <a:ext cx="289560" cy="243840"/>
          </a:xfrm>
          <a:prstGeom prst="arc">
            <a:avLst/>
          </a:prstGeom>
          <a:noFill/>
          <a:ln w="22860">
            <a:solidFill>
              <a:srgbClr val="126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2060" y="3467100"/>
            <a:ext cx="289560" cy="243840"/>
          </a:xfrm>
          <a:prstGeom prst="arc">
            <a:avLst/>
          </a:prstGeom>
          <a:noFill/>
          <a:ln w="22860">
            <a:solidFill>
              <a:srgbClr val="126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4540" y="3070860"/>
            <a:ext cx="2286000" cy="259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</a:t>
            </a:r>
            <a:r>
              <a:rPr lang="zh-CN" altLang="en-US" sz="166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两位导师</a:t>
            </a:r>
            <a:endParaRPr lang="zh-CN" altLang="en-US" sz="1665" b="1" dirty="0">
              <a:solidFill>
                <a:srgbClr val="1264E8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034540" y="3413760"/>
            <a:ext cx="8991600" cy="2362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感谢江哥与飞哥在工作中的指导、帮助与栽培，让我能够不断学习、成长与进步。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76300" y="4114800"/>
            <a:ext cx="762000" cy="762000"/>
          </a:xfrm>
          <a:prstGeom prst="ellipse">
            <a:avLst/>
          </a:prstGeom>
          <a:solidFill>
            <a:srgbClr val="E5F2FF"/>
          </a:solidFill>
          <a:ln w="12700">
            <a:solidFill>
              <a:srgbClr val="E5F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9180" y="4587240"/>
            <a:ext cx="68580" cy="16764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96340" y="4480560"/>
            <a:ext cx="68580" cy="27432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33500" y="4335780"/>
            <a:ext cx="68580" cy="419100"/>
          </a:xfrm>
          <a:prstGeom prst="rect">
            <a:avLst/>
          </a:prstGeom>
          <a:solidFill>
            <a:srgbClr val="1264E8"/>
          </a:solidFill>
          <a:ln w="12700">
            <a:solidFill>
              <a:srgbClr val="126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3940" y="4770120"/>
            <a:ext cx="472440" cy="0"/>
          </a:xfrm>
          <a:prstGeom prst="line">
            <a:avLst/>
          </a:prstGeom>
          <a:noFill/>
          <a:ln w="25400">
            <a:solidFill>
              <a:srgbClr val="126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34540" y="4130040"/>
            <a:ext cx="1676400" cy="259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5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展望未来</a:t>
            </a:r>
            <a:endParaRPr lang="en-US" sz="1665" dirty="0"/>
          </a:p>
        </p:txBody>
      </p:sp>
      <p:sp>
        <p:nvSpPr>
          <p:cNvPr id="42" name="Text 40"/>
          <p:cNvSpPr/>
          <p:nvPr/>
        </p:nvSpPr>
        <p:spPr>
          <a:xfrm>
            <a:off x="2034540" y="4480560"/>
            <a:ext cx="8991600" cy="2362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未来，我也期待继续在阿丘科技持续成长，创造价值，并为团队与公司贡献更多力量。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70560" y="5082540"/>
            <a:ext cx="10858500" cy="800100"/>
          </a:xfrm>
          <a:prstGeom prst="roundRect">
            <a:avLst>
              <a:gd name="adj" fmla="val 7619"/>
            </a:avLst>
          </a:prstGeom>
          <a:solidFill>
            <a:srgbClr val="EDF7FF">
              <a:alpha val="93000"/>
            </a:srgbClr>
          </a:solidFill>
          <a:ln w="8890">
            <a:solidFill>
              <a:srgbClr val="D6ECFF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34640" y="5166360"/>
            <a:ext cx="594360" cy="594360"/>
          </a:xfrm>
          <a:prstGeom prst="ellipse">
            <a:avLst/>
          </a:prstGeom>
          <a:solidFill>
            <a:srgbClr val="E5F2FF"/>
          </a:solidFill>
          <a:ln w="12700">
            <a:solidFill>
              <a:srgbClr val="E5F2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31820" y="5341620"/>
            <a:ext cx="0" cy="320040"/>
          </a:xfrm>
          <a:prstGeom prst="line">
            <a:avLst/>
          </a:prstGeom>
          <a:noFill/>
          <a:ln w="35560">
            <a:solidFill>
              <a:srgbClr val="1264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42260" y="5273040"/>
            <a:ext cx="342900" cy="266700"/>
          </a:xfrm>
          <a:prstGeom prst="arc">
            <a:avLst/>
          </a:prstGeom>
          <a:noFill/>
          <a:ln w="50800">
            <a:solidFill>
              <a:srgbClr val="126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08960" y="5273040"/>
            <a:ext cx="342900" cy="266700"/>
          </a:xfrm>
          <a:prstGeom prst="arc">
            <a:avLst/>
          </a:prstGeom>
          <a:noFill/>
          <a:ln w="50800">
            <a:solidFill>
              <a:srgbClr val="1264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5700" y="528066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64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心怀感恩，继续成长；立足岗位，持续贡献。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686300" y="5623560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8EA0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感谢相遇，感谢信任，未来可期！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3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4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5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6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7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8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9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0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1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2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3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4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5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6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7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8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19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0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1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2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3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4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5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6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7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8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29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ags/tag30.xml><?xml version="1.0" encoding="utf-8"?>
<p:tagLst xmlns:p="http://schemas.openxmlformats.org/presentationml/2006/main">
  <p:tag name="KSO_WM_DIAGRAM_VIRTUALLY_FRAME" val="{&quot;height&quot;:284.8378740157481,&quot;left&quot;:182.47724409448819,&quot;top&quot;:172.22503937007872,&quot;width&quot;:700.404094488189}"/>
</p:tagLst>
</file>

<file path=ppt/theme/theme1.xml><?xml version="1.0" encoding="utf-8"?>
<a:theme xmlns:a="http://schemas.openxmlformats.org/drawingml/2006/main" name="浅色模板_02">
  <a:themeElements>
    <a:clrScheme name="阿丘科技 主题色">
      <a:dk1>
        <a:srgbClr val="0061FF"/>
      </a:dk1>
      <a:lt1>
        <a:srgbClr val="FFFFFF"/>
      </a:lt1>
      <a:dk2>
        <a:srgbClr val="FFFFFF"/>
      </a:dk2>
      <a:lt2>
        <a:srgbClr val="E8E8E8"/>
      </a:lt2>
      <a:accent1>
        <a:srgbClr val="0061FF"/>
      </a:accent1>
      <a:accent2>
        <a:srgbClr val="2CE2A6"/>
      </a:accent2>
      <a:accent3>
        <a:srgbClr val="F5F5F5"/>
      </a:accent3>
      <a:accent4>
        <a:srgbClr val="B0071F"/>
      </a:accent4>
      <a:accent5>
        <a:srgbClr val="089732"/>
      </a:accent5>
      <a:accent6>
        <a:srgbClr val="262626"/>
      </a:accent6>
      <a:hlink>
        <a:srgbClr val="9483D4"/>
      </a:hlink>
      <a:folHlink>
        <a:srgbClr val="888D8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浅色模板_02">
  <a:themeElements>
    <a:clrScheme name="阿丘科技 主题色">
      <a:dk1>
        <a:srgbClr val="0061FF"/>
      </a:dk1>
      <a:lt1>
        <a:srgbClr val="FFFFFF"/>
      </a:lt1>
      <a:dk2>
        <a:srgbClr val="FFFFFF"/>
      </a:dk2>
      <a:lt2>
        <a:srgbClr val="E8E8E8"/>
      </a:lt2>
      <a:accent1>
        <a:srgbClr val="0061FF"/>
      </a:accent1>
      <a:accent2>
        <a:srgbClr val="2CE2A6"/>
      </a:accent2>
      <a:accent3>
        <a:srgbClr val="F5F5F5"/>
      </a:accent3>
      <a:accent4>
        <a:srgbClr val="B0071F"/>
      </a:accent4>
      <a:accent5>
        <a:srgbClr val="089732"/>
      </a:accent5>
      <a:accent6>
        <a:srgbClr val="262626"/>
      </a:accent6>
      <a:hlink>
        <a:srgbClr val="9483D4"/>
      </a:hlink>
      <a:folHlink>
        <a:srgbClr val="888D8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3003</Words>
  <Application>WPS 演示</Application>
  <PresentationFormat>宽屏</PresentationFormat>
  <Paragraphs>458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Calibri</vt:lpstr>
      <vt:lpstr>微软雅黑 Light</vt:lpstr>
      <vt:lpstr>HarmonyOS Sans SC</vt:lpstr>
      <vt:lpstr>Montserrat Medium</vt:lpstr>
      <vt:lpstr>FFont-Family</vt:lpstr>
      <vt:lpstr>Helvetica Neue Light</vt:lpstr>
      <vt:lpstr>微软雅黑</vt:lpstr>
      <vt:lpstr>等线</vt:lpstr>
      <vt:lpstr>Arial Unicode MS</vt:lpstr>
      <vt:lpstr>Noto Sans CJK SC</vt:lpstr>
      <vt:lpstr>Noto Sans CJK SC</vt:lpstr>
      <vt:lpstr>Noto Sans CJK SC</vt:lpstr>
      <vt:lpstr>MingLiU-ExtB</vt:lpstr>
      <vt:lpstr>浅色模板_02</vt:lpstr>
      <vt:lpstr>1_浅色模板_02</vt:lpstr>
      <vt:lpstr>汇报人：模型和智能体产品线-研发部 赵联城</vt:lpstr>
      <vt:lpstr>PowerPoint 演示文稿</vt:lpstr>
      <vt:lpstr>个人介绍篇</vt:lpstr>
      <vt:lpstr>PowerPoint 演示文稿</vt:lpstr>
      <vt:lpstr>工作篇</vt:lpstr>
      <vt:lpstr>PowerPoint 演示文稿</vt:lpstr>
      <vt:lpstr>PowerPoint 演示文稿</vt:lpstr>
      <vt:lpstr>挑战与成长</vt:lpstr>
      <vt:lpstr>PowerPoint 演示文稿</vt:lpstr>
      <vt:lpstr>未来规划</vt:lpstr>
      <vt:lpstr>PowerPoint 演示文稿</vt:lpstr>
      <vt:lpstr>AI应用实例分享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e38410</dc:creator>
  <cp:lastModifiedBy>莫蒂先生</cp:lastModifiedBy>
  <cp:revision>291</cp:revision>
  <dcterms:created xsi:type="dcterms:W3CDTF">2025-02-24T09:26:00Z</dcterms:created>
  <dcterms:modified xsi:type="dcterms:W3CDTF">2026-09-22T07:28:48Z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6EB819FB573F4802B52415E4A323E00A_12</vt:lpwstr>
  </property>
</Properties>
</file>